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5"/>
  </p:notesMasterIdLst>
  <p:sldIdLst>
    <p:sldId id="2147472085" r:id="rId3"/>
    <p:sldId id="2147472084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99" autoAdjust="0"/>
    <p:restoredTop sz="92259" autoAdjust="0"/>
  </p:normalViewPr>
  <p:slideViewPr>
    <p:cSldViewPr snapToGrid="0">
      <p:cViewPr varScale="1">
        <p:scale>
          <a:sx n="99" d="100"/>
          <a:sy n="99" d="100"/>
        </p:scale>
        <p:origin x="18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23849B-5E29-4DD1-B1E7-CEC4E01684E9}" type="datetimeFigureOut">
              <a:rPr lang="zh-CN" altLang="en-US" smtClean="0"/>
              <a:t>2025/10/24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1C008C-68C3-4508-B7CA-EAB1E612D7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89934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1C008C-68C3-4508-B7CA-EAB1E612D751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48972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89A0E-7A92-AC35-9AD7-A7E2C60C18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003A92-84D4-B415-E4F7-62B71276A9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F88E3A-CBB1-0D23-F51F-3ABB0B46B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8D6A8-22DA-4CFC-AA61-FFA3C3542D51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63CD00-F9E6-0070-40CA-604523437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9D7065-F958-764E-CB72-F932802B4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A8970-340F-4734-A5BA-656F77B0B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2573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CA227-CA7A-62B9-0F42-509E8A389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6401F9-FC4E-AC44-092C-88E40E2548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BF3A90-0B3E-0D8B-1973-F80AC9FC2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8D6A8-22DA-4CFC-AA61-FFA3C3542D51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CD3118-502B-6BC7-8E9B-8D26FA49C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4DFFE0-A818-07B7-F2CD-B5BEC264B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A8970-340F-4734-A5BA-656F77B0B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794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2A271-CC41-21A7-DA9B-221D7EE62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B48E2F-4D3E-22C1-406C-2B8A4C67FB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9DE4E2-69C5-5ED6-AFEB-3B837BF56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8D6A8-22DA-4CFC-AA61-FFA3C3542D51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50CC17-5810-E2B3-FCF1-EE2DED914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7285DC-8DCC-81D4-973F-49BED49C4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A8970-340F-4734-A5BA-656F77B0B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2374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7294F-9D1F-53E2-8D12-8A8659E0E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04365A-7FD7-2002-2823-F76840CAED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E22240-15F8-EFBB-8428-D602613F13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07E0B0-6333-917F-DBA5-B93428783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8D6A8-22DA-4CFC-AA61-FFA3C3542D51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32452B-0A96-ED94-64D3-728DEFE7A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693D1D-393F-F3F2-C1E1-C467C69C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A8970-340F-4734-A5BA-656F77B0B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3352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79553-06E6-86C5-FD5F-45541994C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5B3FEC-E700-8ABD-D1DD-781902AC69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E5BB28-0BDC-F469-2D57-53C984F9D5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5C1997-3E7B-4C33-08BD-D68FE16EB6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06B7E3-81E9-FEB0-4AAF-31A1C509E0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F1C012-B150-7D20-38F2-1695DA393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8D6A8-22DA-4CFC-AA61-FFA3C3542D51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32253B-AD78-BF82-7760-B726071BB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2D99F7-FF66-EED2-9C82-EFEF8B890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A8970-340F-4734-A5BA-656F77B0B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126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4AE5D-C529-01E0-7DEA-9D828C313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083C94-9710-F2C1-291C-F02721FF1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8D6A8-22DA-4CFC-AA61-FFA3C3542D51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1D4010-E545-4227-F5C1-51D8C798C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D82CBC-57D1-2059-F439-513221C6B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A8970-340F-4734-A5BA-656F77B0B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89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AD649E-4A02-C9BC-69CA-E7EB08333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8D6A8-22DA-4CFC-AA61-FFA3C3542D51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69B027-8A44-EFB6-9673-EB5C09116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5B26DA-4F67-427A-6C7D-136DCB423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A8970-340F-4734-A5BA-656F77B0B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420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67B2A-8F1C-8384-463F-C836D6B55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77D2C3-E953-6AC2-19D2-9D11D45965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0A1902-CE0E-C177-EB61-730B380C65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D789AF-DF9D-4C76-ABE8-A0A78B799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8D6A8-22DA-4CFC-AA61-FFA3C3542D51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0C3AD9-D8E2-8A06-A04A-C4A14FA06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9A6D0E-7135-1617-CC84-DE2337D9D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A8970-340F-4734-A5BA-656F77B0B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187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5ED7A-6385-4EF9-AFCC-759506976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8EFB52-3868-A747-B07D-78A5817B04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38F87E-FCFA-5030-5210-FF19F52E06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7BA992-C72D-E9C8-2638-E5F9AD4C3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8D6A8-22DA-4CFC-AA61-FFA3C3542D51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37EAF4-5945-01A5-E022-770C2F7DD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41E50F-1775-EC4A-56CA-61DFA3071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A8970-340F-4734-A5BA-656F77B0B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460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AF33B-285D-7BAD-608A-8CF466E7D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4D89AB-DCB1-B72D-4C26-34EE41737D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81D562-F9FE-CA7A-6778-020BF7B96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8D6A8-22DA-4CFC-AA61-FFA3C3542D51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A8F762-1C6C-5770-69C3-F6E4DE842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5172FD-E613-861F-CCC8-7E873F3CB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A8970-340F-4734-A5BA-656F77B0B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349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248615-78CA-1176-749C-DF56A4B8E0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8A9008-8182-3D87-CE58-9BA8B034C2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DFD385-5ED8-865E-459D-7ACE577D3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8D6A8-22DA-4CFC-AA61-FFA3C3542D51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56E302-2613-FF87-CA17-EAE4DF813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7E7D86-8302-062A-5792-8D7E687DB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A8970-340F-4734-A5BA-656F77B0B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6723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44B03-DC5B-1B84-49A1-6E675D3613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04A924-631B-84A5-9C1E-D34F2CBAEE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01F0D6-BBDB-3A19-1671-1C4E306E4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6DE77-F393-425F-B5C6-A733350DBF5B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8AD409-E358-7209-8A86-64C72338D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86B43-7A98-233A-D8E7-6FF2D658C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C561-0074-4F63-A55C-330074E93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5820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0BB0D-CAEC-9D1D-0FD6-0489EE7CB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793ED8-C205-BACC-11ED-87A38506E4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58F1B5-9B65-EED6-F0AE-CC0A8E54B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6DE77-F393-425F-B5C6-A733350DBF5B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C67D6D-C04C-4C51-EE41-17A961950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C7BF9E-6220-6C04-260A-DB563ECF4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C561-0074-4F63-A55C-330074E93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2353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ADB31-D325-726F-F6E8-9ADEFAE83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8E3823-D42D-4946-0ECA-FA3D7C40E8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72EC95-74A6-7219-5914-C0A3331C6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6DE77-F393-425F-B5C6-A733350DBF5B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829B0B-AD98-EB14-DF87-CB9240A84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4AC9F9-DA37-531C-AABF-F4156CDAF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C561-0074-4F63-A55C-330074E93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6416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AC394-A63F-D897-A3D5-64AB9AE93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0FD4A5-3BAC-76A0-A99B-F8BEA168C4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C608E3-B61F-4CFA-DC82-02C86529B0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EABC2D-F1B8-A11D-A91C-16E61D9A2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6DE77-F393-425F-B5C6-A733350DBF5B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7B827D-FDB1-B5CE-48A8-06D5D12DF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14E846-7863-A881-DE4E-CBF5B3FB2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C561-0074-4F63-A55C-330074E93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3828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5F73C-C37A-C387-E9FE-229277FCF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663E90-5699-D8E9-AFAC-4C3B3E63B6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B227E2-7D6D-D7D7-7C15-25235C105D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332BDA-D6B6-D61D-0458-DB4D46DA3A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4E513C-7836-8370-F9D0-A35662D0FE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B1FAAB-93B6-E0DB-02B7-3245547BF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6DE77-F393-425F-B5C6-A733350DBF5B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4A5BB6-5F08-CB46-7468-6449C9194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E2B2CC-D620-3BFA-7E18-D27E803E8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C561-0074-4F63-A55C-330074E93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1521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18A66-9D39-61B0-A510-B813898F6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B23D65-8C47-E134-1E66-BCC8E008F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6DE77-F393-425F-B5C6-A733350DBF5B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81518C-5EFE-880C-80ED-F07E1C95B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4784BC-F272-9AA1-9CCC-91F19DE25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C561-0074-4F63-A55C-330074E93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5361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B62DF6-4682-99B4-2B5F-F473A3E4F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6DE77-F393-425F-B5C6-A733350DBF5B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DC2D65-224E-564F-8DB5-978B05DB8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F842A6-6FF7-B9B8-2F76-DABDA2B8E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C561-0074-4F63-A55C-330074E93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7937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04D3E-94AA-7EDF-D31C-203E01EA5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FC52F-2B30-69EF-DE3C-1FEB556709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017FB7-EEF0-0833-8A3A-0A008A86EA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5B5008-0C6F-9AE1-009F-D99FBE49F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6DE77-F393-425F-B5C6-A733350DBF5B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15326D-61C8-3CA0-8C06-BDA2BA208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55A397-456E-3CB2-4ACF-3CB2F0384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C561-0074-4F63-A55C-330074E93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4915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8DAEF-261E-FA7C-8CED-78230FC3A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667433-60FF-A86A-2C5B-965642EE37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3E4AD6-4B07-9842-DFB1-2167ED8361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E57E40-B8EE-D80C-6A5D-538E315F2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6DE77-F393-425F-B5C6-A733350DBF5B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0461B5-45F1-1EEC-78F3-D5C219E1A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E01A95-25E2-F6D7-6DE0-D49255D3B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C561-0074-4F63-A55C-330074E93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16779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832C3-5ACC-D3D9-8DE6-CFA8FC0D0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A1F238-0A68-0564-12BB-8F6C9ED4A8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EF84D6-24D6-6B8A-1589-2E38A25D9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6DE77-F393-425F-B5C6-A733350DBF5B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684594-421D-06E2-0CF8-00F2439E9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71E1E7-9C96-A3D5-9FD8-F6112D4A5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C561-0074-4F63-A55C-330074E93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68425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1FC101-CD1D-69FC-2C2D-43A182A6B9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409C2D-EE04-5CC2-7EB2-14DEF31E08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424EA7-F36E-CEBC-C0D1-5039F0615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6DE77-F393-425F-B5C6-A733350DBF5B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323CCC-C2BC-F47C-C266-281B03955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0FA4D0-CE85-74EA-E615-8E7147747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C561-0074-4F63-A55C-330074E93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79888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2111"/>
            <a:ext cx="11018838" cy="4836927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/>
            </a:lvl1pPr>
            <a:lvl2pPr marL="457200" indent="-228600">
              <a:buSzPct val="90000"/>
              <a:buFont typeface="Arial" panose="020B0604020202020204" pitchFamily="34" charset="0"/>
              <a:buChar char="•"/>
              <a:defRPr/>
            </a:lvl2pPr>
            <a:lvl3pPr marL="657225" indent="-200025">
              <a:buSzPct val="90000"/>
              <a:buFont typeface="Arial" panose="020B0604020202020204" pitchFamily="34" charset="0"/>
              <a:buChar char="•"/>
              <a:defRPr/>
            </a:lvl3pPr>
            <a:lvl4pPr marL="842963" indent="-180975">
              <a:buSzPct val="90000"/>
              <a:buFont typeface="Arial" panose="020B0604020202020204" pitchFamily="34" charset="0"/>
              <a:buChar char="•"/>
              <a:defRPr/>
            </a:lvl4pPr>
            <a:lvl5pPr marL="1023938" indent="-168275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00840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5" orient="horz" pos="905">
          <p15:clr>
            <a:srgbClr val="5ACBF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2111"/>
            <a:ext cx="11018838" cy="4836927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/>
            </a:lvl1pPr>
            <a:lvl2pPr marL="457200" indent="-228600">
              <a:buSzPct val="90000"/>
              <a:buFont typeface="Arial" panose="020B0604020202020204" pitchFamily="34" charset="0"/>
              <a:buChar char="•"/>
              <a:defRPr/>
            </a:lvl2pPr>
            <a:lvl3pPr marL="657225" indent="-200025">
              <a:buSzPct val="90000"/>
              <a:buFont typeface="Arial" panose="020B0604020202020204" pitchFamily="34" charset="0"/>
              <a:buChar char="•"/>
              <a:defRPr/>
            </a:lvl3pPr>
            <a:lvl4pPr marL="842963" indent="-180975">
              <a:buSzPct val="90000"/>
              <a:buFont typeface="Arial" panose="020B0604020202020204" pitchFamily="34" charset="0"/>
              <a:buChar char="•"/>
              <a:defRPr/>
            </a:lvl4pPr>
            <a:lvl5pPr marL="1023938" indent="-168275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57143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5" orient="horz" pos="905">
          <p15:clr>
            <a:srgbClr val="5ACBF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2111"/>
            <a:ext cx="11018838" cy="4836927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/>
            </a:lvl1pPr>
            <a:lvl2pPr marL="457200" indent="-228600">
              <a:buSzPct val="90000"/>
              <a:buFont typeface="Arial" panose="020B0604020202020204" pitchFamily="34" charset="0"/>
              <a:buChar char="•"/>
              <a:defRPr/>
            </a:lvl2pPr>
            <a:lvl3pPr marL="657225" indent="-200025">
              <a:buSzPct val="90000"/>
              <a:buFont typeface="Arial" panose="020B0604020202020204" pitchFamily="34" charset="0"/>
              <a:buChar char="•"/>
              <a:defRPr/>
            </a:lvl3pPr>
            <a:lvl4pPr marL="842963" indent="-180975">
              <a:buSzPct val="90000"/>
              <a:buFont typeface="Arial" panose="020B0604020202020204" pitchFamily="34" charset="0"/>
              <a:buChar char="•"/>
              <a:defRPr/>
            </a:lvl4pPr>
            <a:lvl5pPr marL="1023938" indent="-168275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91617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5" orient="horz" pos="905">
          <p15:clr>
            <a:srgbClr val="5ACBF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2111"/>
            <a:ext cx="11018838" cy="4836927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/>
            </a:lvl1pPr>
            <a:lvl2pPr marL="457200" indent="-228600">
              <a:buSzPct val="90000"/>
              <a:buFont typeface="Arial" panose="020B0604020202020204" pitchFamily="34" charset="0"/>
              <a:buChar char="•"/>
              <a:defRPr/>
            </a:lvl2pPr>
            <a:lvl3pPr marL="657225" indent="-200025">
              <a:buSzPct val="90000"/>
              <a:buFont typeface="Arial" panose="020B0604020202020204" pitchFamily="34" charset="0"/>
              <a:buChar char="•"/>
              <a:defRPr/>
            </a:lvl3pPr>
            <a:lvl4pPr marL="842963" indent="-180975">
              <a:buSzPct val="90000"/>
              <a:buFont typeface="Arial" panose="020B0604020202020204" pitchFamily="34" charset="0"/>
              <a:buChar char="•"/>
              <a:defRPr/>
            </a:lvl4pPr>
            <a:lvl5pPr marL="1023938" indent="-168275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45576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5" orient="horz" pos="905">
          <p15:clr>
            <a:srgbClr val="5ACBF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2111"/>
            <a:ext cx="11018838" cy="4836927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/>
            </a:lvl1pPr>
            <a:lvl2pPr marL="457200" indent="-228600">
              <a:buSzPct val="90000"/>
              <a:buFont typeface="Arial" panose="020B0604020202020204" pitchFamily="34" charset="0"/>
              <a:buChar char="•"/>
              <a:defRPr/>
            </a:lvl2pPr>
            <a:lvl3pPr marL="657225" indent="-200025">
              <a:buSzPct val="90000"/>
              <a:buFont typeface="Arial" panose="020B0604020202020204" pitchFamily="34" charset="0"/>
              <a:buChar char="•"/>
              <a:defRPr/>
            </a:lvl3pPr>
            <a:lvl4pPr marL="842963" indent="-180975">
              <a:buSzPct val="90000"/>
              <a:buFont typeface="Arial" panose="020B0604020202020204" pitchFamily="34" charset="0"/>
              <a:buChar char="•"/>
              <a:defRPr/>
            </a:lvl4pPr>
            <a:lvl5pPr marL="1023938" indent="-168275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63970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5" orient="horz" pos="905">
          <p15:clr>
            <a:srgbClr val="5ACBF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2111"/>
            <a:ext cx="11018838" cy="4836927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/>
            </a:lvl1pPr>
            <a:lvl2pPr marL="457200" indent="-228600">
              <a:buSzPct val="90000"/>
              <a:buFont typeface="Arial" panose="020B0604020202020204" pitchFamily="34" charset="0"/>
              <a:buChar char="•"/>
              <a:defRPr/>
            </a:lvl2pPr>
            <a:lvl3pPr marL="657225" indent="-200025">
              <a:buSzPct val="90000"/>
              <a:buFont typeface="Arial" panose="020B0604020202020204" pitchFamily="34" charset="0"/>
              <a:buChar char="•"/>
              <a:defRPr/>
            </a:lvl3pPr>
            <a:lvl4pPr marL="842963" indent="-180975">
              <a:buSzPct val="90000"/>
              <a:buFont typeface="Arial" panose="020B0604020202020204" pitchFamily="34" charset="0"/>
              <a:buChar char="•"/>
              <a:defRPr/>
            </a:lvl4pPr>
            <a:lvl5pPr marL="1023938" indent="-168275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48429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5" orient="horz" pos="905">
          <p15:clr>
            <a:srgbClr val="5ACBF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2111"/>
            <a:ext cx="11018838" cy="4836927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/>
            </a:lvl1pPr>
            <a:lvl2pPr marL="457200" indent="-228600">
              <a:buSzPct val="90000"/>
              <a:buFont typeface="Arial" panose="020B0604020202020204" pitchFamily="34" charset="0"/>
              <a:buChar char="•"/>
              <a:defRPr/>
            </a:lvl2pPr>
            <a:lvl3pPr marL="657225" indent="-200025">
              <a:buSzPct val="90000"/>
              <a:buFont typeface="Arial" panose="020B0604020202020204" pitchFamily="34" charset="0"/>
              <a:buChar char="•"/>
              <a:defRPr/>
            </a:lvl3pPr>
            <a:lvl4pPr marL="842963" indent="-180975">
              <a:buSzPct val="90000"/>
              <a:buFont typeface="Arial" panose="020B0604020202020204" pitchFamily="34" charset="0"/>
              <a:buChar char="•"/>
              <a:defRPr/>
            </a:lvl4pPr>
            <a:lvl5pPr marL="1023938" indent="-168275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73470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5" orient="horz" pos="905">
          <p15:clr>
            <a:srgbClr val="5ACBF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2111"/>
            <a:ext cx="11018838" cy="4836927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/>
            </a:lvl1pPr>
            <a:lvl2pPr marL="457200" indent="-228600">
              <a:buSzPct val="90000"/>
              <a:buFont typeface="Arial" panose="020B0604020202020204" pitchFamily="34" charset="0"/>
              <a:buChar char="•"/>
              <a:defRPr/>
            </a:lvl2pPr>
            <a:lvl3pPr marL="657225" indent="-200025">
              <a:buSzPct val="90000"/>
              <a:buFont typeface="Arial" panose="020B0604020202020204" pitchFamily="34" charset="0"/>
              <a:buChar char="•"/>
              <a:defRPr/>
            </a:lvl3pPr>
            <a:lvl4pPr marL="842963" indent="-180975">
              <a:buSzPct val="90000"/>
              <a:buFont typeface="Arial" panose="020B0604020202020204" pitchFamily="34" charset="0"/>
              <a:buChar char="•"/>
              <a:defRPr/>
            </a:lvl4pPr>
            <a:lvl5pPr marL="1023938" indent="-168275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84777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5" orient="horz" pos="905">
          <p15:clr>
            <a:srgbClr val="5ACBF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3A4FCE-3A35-AF12-4EB0-4812C9C9A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130EB9-DBF9-CE4C-6E87-923D7F107C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735641-CC9D-0FAE-4CCF-1941356C83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98D6A8-22DA-4CFC-AA61-FFA3C3542D51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6A60CF-92FF-D6AC-109D-1E0DD83D8A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0307A6-9670-B2D9-E134-C3BD292CFF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0A8970-340F-4734-A5BA-656F77B0B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231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49E8DB-A4AB-B75C-4ED1-9BACD1E58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C2F329-27F8-C1C6-497E-4A373AAE8F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9B96BC-9033-211E-EFCF-785F333CF7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96DE77-F393-425F-B5C6-A733350DBF5B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F1C422-BDF8-5159-B23E-BDA02511B5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F668BD-72D7-7458-1C89-EC06D57757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30C561-0074-4F63-A55C-330074E9321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22808A-EBBE-68AC-3DD8-241E700B91FA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190500" y="190500"/>
            <a:ext cx="44926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8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[Public]</a:t>
            </a:r>
          </a:p>
        </p:txBody>
      </p:sp>
    </p:spTree>
    <p:extLst>
      <p:ext uri="{BB962C8B-B14F-4D97-AF65-F5344CB8AC3E}">
        <p14:creationId xmlns:p14="http://schemas.microsoft.com/office/powerpoint/2010/main" val="2240575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4.jp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.xml"/><Relationship Id="rId6" Type="http://schemas.openxmlformats.org/officeDocument/2006/relationships/image" Target="../media/image3.png"/><Relationship Id="rId11" Type="http://schemas.openxmlformats.org/officeDocument/2006/relationships/image" Target="../media/image8.svg"/><Relationship Id="rId5" Type="http://schemas.openxmlformats.org/officeDocument/2006/relationships/image" Target="../media/image2.png"/><Relationship Id="rId10" Type="http://schemas.openxmlformats.org/officeDocument/2006/relationships/image" Target="../media/image7.png"/><Relationship Id="rId4" Type="http://schemas.openxmlformats.org/officeDocument/2006/relationships/image" Target="../media/image1.png"/><Relationship Id="rId9" Type="http://schemas.openxmlformats.org/officeDocument/2006/relationships/image" Target="../media/image6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.xml"/><Relationship Id="rId6" Type="http://schemas.openxmlformats.org/officeDocument/2006/relationships/image" Target="../media/image11.emf"/><Relationship Id="rId5" Type="http://schemas.openxmlformats.org/officeDocument/2006/relationships/image" Target="../media/image10.emf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17DAA5-F6B5-3781-1A62-332598CA8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图片 115">
            <a:extLst>
              <a:ext uri="{FF2B5EF4-FFF2-40B4-BE49-F238E27FC236}">
                <a16:creationId xmlns:a16="http://schemas.microsoft.com/office/drawing/2014/main" id="{211DD07E-F46A-AAF1-6447-0D02D3638A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7720" y="867042"/>
            <a:ext cx="2723922" cy="2309759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AE07D787-F7AC-CA28-1CCC-EF0F791C877E}"/>
              </a:ext>
            </a:extLst>
          </p:cNvPr>
          <p:cNvSpPr/>
          <p:nvPr/>
        </p:nvSpPr>
        <p:spPr>
          <a:xfrm>
            <a:off x="8339345" y="2062425"/>
            <a:ext cx="3713537" cy="4578115"/>
          </a:xfrm>
          <a:prstGeom prst="roundRect">
            <a:avLst/>
          </a:prstGeom>
          <a:solidFill>
            <a:schemeClr val="bg1"/>
          </a:solidFill>
          <a:effectLst>
            <a:glow rad="63500">
              <a:schemeClr val="accent3">
                <a:satMod val="175000"/>
                <a:alpha val="40000"/>
              </a:schemeClr>
            </a:glow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defTabSz="4572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200">
              <a:solidFill>
                <a:srgbClr val="FF0000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8B52E08B-B443-3693-8587-AFE9E707336D}"/>
              </a:ext>
            </a:extLst>
          </p:cNvPr>
          <p:cNvSpPr/>
          <p:nvPr/>
        </p:nvSpPr>
        <p:spPr>
          <a:xfrm>
            <a:off x="222421" y="954483"/>
            <a:ext cx="3873604" cy="5713014"/>
          </a:xfrm>
          <a:prstGeom prst="roundRect">
            <a:avLst/>
          </a:prstGeom>
          <a:solidFill>
            <a:schemeClr val="bg1"/>
          </a:solidFill>
          <a:effectLst>
            <a:glow rad="63500">
              <a:schemeClr val="accent3">
                <a:satMod val="175000"/>
                <a:alpha val="40000"/>
              </a:schemeClr>
            </a:glow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defTabSz="4572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200">
              <a:solidFill>
                <a:srgbClr val="FF0000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413A43C-AF57-8145-AD16-45F8F1EECC58}"/>
              </a:ext>
            </a:extLst>
          </p:cNvPr>
          <p:cNvSpPr/>
          <p:nvPr/>
        </p:nvSpPr>
        <p:spPr>
          <a:xfrm>
            <a:off x="0" y="135526"/>
            <a:ext cx="1240040" cy="2739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DE1E6B68-BECB-1AE9-B7FA-E89DB4EA8371}"/>
              </a:ext>
            </a:extLst>
          </p:cNvPr>
          <p:cNvSpPr txBox="1">
            <a:spLocks/>
          </p:cNvSpPr>
          <p:nvPr/>
        </p:nvSpPr>
        <p:spPr>
          <a:xfrm>
            <a:off x="317629" y="1572055"/>
            <a:ext cx="3778396" cy="52013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 network switch links devices in a LAN, directing data to the right place. It handles multiple connections at once, prioritizes important data, and manages packets of different sizes for smooth communication.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Typical switches, once networking essentials, now show limits under modern demands.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Rigid caching and static memory allocation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reduce adaptability to dynamic traffic, while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weak multi-port parallelism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inadequate priority management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and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limited error detection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hinder high-performance networking.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Key technical issues addressed:</a:t>
            </a:r>
          </a:p>
          <a:p>
            <a:pPr marL="207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Pct val="75000"/>
              <a:buFont typeface="Wingdings" panose="05000000000000000000" pitchFamily="2" charset="2"/>
              <a:buChar char="u"/>
              <a:tabLst/>
              <a:defRPr/>
            </a:pPr>
            <a:r>
              <a:rPr lang="en-US" altLang="zh-CN" sz="1100" dirty="0">
                <a:latin typeface="Calibri "/>
              </a:rPr>
              <a:t>Supports </a:t>
            </a:r>
            <a:r>
              <a:rPr lang="en-US" altLang="zh-CN" sz="1100" b="1" dirty="0">
                <a:latin typeface="Calibri "/>
              </a:rPr>
              <a:t>dynamic memory sharing</a:t>
            </a:r>
            <a:r>
              <a:rPr lang="en-US" altLang="zh-CN" sz="1100" dirty="0">
                <a:latin typeface="Calibri "/>
              </a:rPr>
              <a:t> across ports and queues, optimizing resource usage in real-time.</a:t>
            </a:r>
          </a:p>
          <a:p>
            <a:pPr marL="207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ct val="75000"/>
              <a:buFont typeface="Wingdings" panose="05000000000000000000" pitchFamily="2" charset="2"/>
              <a:buChar char="u"/>
              <a:tabLst/>
              <a:defRPr/>
            </a:pPr>
            <a:r>
              <a:rPr lang="en-US" altLang="zh-CN" sz="1100" dirty="0">
                <a:latin typeface="Calibri "/>
              </a:rPr>
              <a:t>Enables </a:t>
            </a:r>
            <a:r>
              <a:rPr lang="en-US" altLang="zh-CN" sz="1100" b="1" dirty="0">
                <a:latin typeface="Calibri "/>
              </a:rPr>
              <a:t>4 ports to operate simultaneously</a:t>
            </a:r>
            <a:r>
              <a:rPr lang="en-US" altLang="zh-CN" sz="1100" dirty="0">
                <a:latin typeface="Calibri "/>
              </a:rPr>
              <a:t> with up to </a:t>
            </a:r>
            <a:r>
              <a:rPr lang="en-US" altLang="zh-CN" sz="1100" b="1" dirty="0">
                <a:latin typeface="Calibri "/>
              </a:rPr>
              <a:t>4 Gbps bandwidth per port</a:t>
            </a:r>
            <a:r>
              <a:rPr lang="en-US" altLang="zh-CN" sz="1100" dirty="0">
                <a:latin typeface="Calibri "/>
              </a:rPr>
              <a:t>.</a:t>
            </a:r>
          </a:p>
          <a:p>
            <a:pPr marL="207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ct val="75000"/>
              <a:buFont typeface="Wingdings" panose="05000000000000000000" pitchFamily="2" charset="2"/>
              <a:buChar char="u"/>
              <a:tabLst/>
              <a:defRPr/>
            </a:pPr>
            <a:r>
              <a:rPr lang="en-US" sz="1100" dirty="0">
                <a:solidFill>
                  <a:prstClr val="black"/>
                </a:solidFill>
                <a:latin typeface="Calibri "/>
              </a:rPr>
              <a:t>Provides </a:t>
            </a:r>
            <a:r>
              <a:rPr lang="en-US" sz="1100" b="1" dirty="0">
                <a:solidFill>
                  <a:prstClr val="black"/>
                </a:solidFill>
                <a:latin typeface="Calibri "/>
              </a:rPr>
              <a:t>4 priority queues per port </a:t>
            </a:r>
            <a:r>
              <a:rPr lang="en-US" sz="1100" dirty="0">
                <a:solidFill>
                  <a:prstClr val="black"/>
                </a:solidFill>
                <a:latin typeface="Calibri "/>
              </a:rPr>
              <a:t>for precise traffic prioritization and enhanced QoS</a:t>
            </a:r>
          </a:p>
          <a:p>
            <a:pPr marL="207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ct val="75000"/>
              <a:buFont typeface="Wingdings" panose="05000000000000000000" pitchFamily="2" charset="2"/>
              <a:buChar char="u"/>
              <a:tabLst/>
              <a:defRPr/>
            </a:pPr>
            <a:r>
              <a:rPr lang="en-US" altLang="zh-CN" sz="1100" dirty="0">
                <a:latin typeface="Calibri "/>
              </a:rPr>
              <a:t>Supports </a:t>
            </a:r>
            <a:r>
              <a:rPr lang="en-US" altLang="zh-CN" sz="1100" b="1" dirty="0">
                <a:latin typeface="Calibri "/>
              </a:rPr>
              <a:t>variable-length packet buffering</a:t>
            </a:r>
            <a:r>
              <a:rPr lang="en-US" altLang="zh-CN" sz="1100" dirty="0">
                <a:latin typeface="Calibri "/>
              </a:rPr>
              <a:t> (64–1024 bytes), ensuring efficient and flexible data handling.</a:t>
            </a:r>
            <a:endParaRPr lang="en-US" altLang="zh-CN" sz="1100" dirty="0">
              <a:solidFill>
                <a:prstClr val="black"/>
              </a:solidFill>
              <a:latin typeface="Calibri "/>
            </a:endParaRPr>
          </a:p>
          <a:p>
            <a:pPr marL="207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ct val="75000"/>
              <a:buFont typeface="Wingdings" panose="05000000000000000000" pitchFamily="2" charset="2"/>
              <a:buChar char="u"/>
              <a:tabLst/>
              <a:defRPr/>
            </a:pPr>
            <a:r>
              <a:rPr lang="en-US" altLang="zh-CN" sz="1100" dirty="0">
                <a:latin typeface="Calibri "/>
              </a:rPr>
              <a:t>Integrates </a:t>
            </a:r>
            <a:r>
              <a:rPr lang="en-US" altLang="zh-CN" sz="1100" b="1" dirty="0">
                <a:latin typeface="Calibri "/>
              </a:rPr>
              <a:t>ECC and CRC mechanisms</a:t>
            </a:r>
            <a:r>
              <a:rPr lang="en-US" altLang="zh-CN" sz="1100" dirty="0">
                <a:latin typeface="Calibri "/>
              </a:rPr>
              <a:t>, ensuring reliable and error-free data transmission.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1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E6E856-1F7B-29DC-EC6F-131562A1B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407" y="1089464"/>
            <a:ext cx="2752711" cy="393666"/>
          </a:xfrm>
          <a:solidFill>
            <a:srgbClr val="2F2F2F"/>
          </a:solidFill>
        </p:spPr>
        <p:txBody>
          <a:bodyPr>
            <a:normAutofit/>
          </a:bodyPr>
          <a:lstStyle/>
          <a:p>
            <a:pPr algn="ctr"/>
            <a:r>
              <a:rPr lang="en-US" sz="1800" b="1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INTRODUCTION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091585-9DBE-4DA2-D488-F342D496C9AB}"/>
              </a:ext>
            </a:extLst>
          </p:cNvPr>
          <p:cNvSpPr txBox="1"/>
          <p:nvPr/>
        </p:nvSpPr>
        <p:spPr>
          <a:xfrm>
            <a:off x="172549" y="0"/>
            <a:ext cx="591144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Hydra: A high-speed multi-port shared cache management module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4" name="文本框 4">
            <a:extLst>
              <a:ext uri="{FF2B5EF4-FFF2-40B4-BE49-F238E27FC236}">
                <a16:creationId xmlns:a16="http://schemas.microsoft.com/office/drawing/2014/main" id="{1265C40B-46F6-DC05-1C17-07D1D6493E04}"/>
              </a:ext>
            </a:extLst>
          </p:cNvPr>
          <p:cNvSpPr txBox="1"/>
          <p:nvPr/>
        </p:nvSpPr>
        <p:spPr>
          <a:xfrm>
            <a:off x="1160692" y="3144230"/>
            <a:ext cx="1882140" cy="2444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1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Typical application case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5A89BED3-CF99-A23E-06E8-A1F59E6F399C}"/>
              </a:ext>
            </a:extLst>
          </p:cNvPr>
          <p:cNvCxnSpPr/>
          <p:nvPr/>
        </p:nvCxnSpPr>
        <p:spPr>
          <a:xfrm>
            <a:off x="5996223" y="269320"/>
            <a:ext cx="2213128" cy="1658522"/>
          </a:xfrm>
          <a:prstGeom prst="line">
            <a:avLst/>
          </a:prstGeom>
          <a:ln w="31750" cmpd="sng">
            <a:prstDash val="soli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64E7AED0-C0C4-811A-9D9C-8F3078244F61}"/>
              </a:ext>
            </a:extLst>
          </p:cNvPr>
          <p:cNvCxnSpPr/>
          <p:nvPr/>
        </p:nvCxnSpPr>
        <p:spPr>
          <a:xfrm flipV="1">
            <a:off x="8199745" y="1916384"/>
            <a:ext cx="3659900" cy="11458"/>
          </a:xfrm>
          <a:prstGeom prst="line">
            <a:avLst/>
          </a:prstGeom>
          <a:ln w="31750" cmpd="sng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9A59525-1AB6-E81A-CB79-C2603C8490A4}"/>
              </a:ext>
            </a:extLst>
          </p:cNvPr>
          <p:cNvCxnSpPr/>
          <p:nvPr/>
        </p:nvCxnSpPr>
        <p:spPr>
          <a:xfrm>
            <a:off x="8209351" y="1927842"/>
            <a:ext cx="0" cy="4622357"/>
          </a:xfrm>
          <a:prstGeom prst="line">
            <a:avLst/>
          </a:prstGeom>
          <a:ln w="31750" cmpd="sng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89260ADA-B7CA-7D97-8F8F-F22FAE68CD32}"/>
              </a:ext>
            </a:extLst>
          </p:cNvPr>
          <p:cNvSpPr txBox="1"/>
          <p:nvPr/>
        </p:nvSpPr>
        <p:spPr>
          <a:xfrm>
            <a:off x="8886075" y="2441910"/>
            <a:ext cx="3094990" cy="18988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1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pitchFamily="2" charset="-122"/>
                <a:cs typeface="Calibri" panose="020F0502020204030204" charset="0"/>
                <a:sym typeface="+mn-ea"/>
              </a:rPr>
              <a:t>The completed work has verified the architecture of Hydra, a high-speed multi-port shared cache management module for routing devices.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pitchFamily="2" charset="-122"/>
                <a:cs typeface="Calibri" panose="020F0502020204030204" charset="0"/>
                <a:sym typeface="+mn-ea"/>
              </a:rPr>
              <a:t> Hydra manages 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pitchFamily="2" charset="-122"/>
                <a:cs typeface="Calibri" panose="020F0502020204030204" charset="0"/>
                <a:sym typeface="+mn-ea"/>
              </a:rPr>
              <a:t>16 SRAM 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pitchFamily="2" charset="-122"/>
                <a:cs typeface="Calibri" panose="020F0502020204030204" charset="0"/>
                <a:sym typeface="+mn-ea"/>
              </a:rPr>
              <a:t>units providing 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pitchFamily="2" charset="-122"/>
                <a:cs typeface="Calibri" panose="020F0502020204030204" charset="0"/>
                <a:sym typeface="+mn-ea"/>
              </a:rPr>
              <a:t>1Mbits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pitchFamily="2" charset="-122"/>
                <a:cs typeface="Calibri" panose="020F0502020204030204" charset="0"/>
                <a:sym typeface="+mn-ea"/>
              </a:rPr>
              <a:t> of total storage. It supports 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pitchFamily="2" charset="-122"/>
                <a:cs typeface="Calibri" panose="020F0502020204030204" charset="0"/>
                <a:sym typeface="+mn-ea"/>
              </a:rPr>
              <a:t>simultaneous read and write 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pitchFamily="2" charset="-122"/>
                <a:cs typeface="Calibri" panose="020F0502020204030204" charset="0"/>
                <a:sym typeface="+mn-ea"/>
              </a:rPr>
              <a:t>operations on 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pitchFamily="2" charset="-122"/>
                <a:cs typeface="Calibri" panose="020F0502020204030204" charset="0"/>
                <a:sym typeface="+mn-ea"/>
              </a:rPr>
              <a:t>4+ ports 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pitchFamily="2" charset="-122"/>
                <a:cs typeface="Calibri" panose="020F0502020204030204" charset="0"/>
                <a:sym typeface="+mn-ea"/>
              </a:rPr>
              <a:t>with 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pitchFamily="2" charset="-122"/>
                <a:cs typeface="Calibri" panose="020F0502020204030204" charset="0"/>
                <a:sym typeface="+mn-ea"/>
              </a:rPr>
              <a:t>4Gbps bandwidth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pitchFamily="2" charset="-122"/>
                <a:cs typeface="Calibri" panose="020F0502020204030204" charset="0"/>
                <a:sym typeface="+mn-ea"/>
              </a:rPr>
              <a:t> per port. Featuring 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pitchFamily="2" charset="-122"/>
                <a:cs typeface="Calibri" panose="020F0502020204030204" charset="0"/>
                <a:sym typeface="+mn-ea"/>
              </a:rPr>
              <a:t>dynamic priority queuing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pitchFamily="2" charset="-122"/>
                <a:cs typeface="Calibri" panose="020F0502020204030204" charset="0"/>
                <a:sym typeface="+mn-ea"/>
              </a:rPr>
              <a:t>, packet-level caching and scheduling and 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pitchFamily="2" charset="-122"/>
                <a:cs typeface="Calibri" panose="020F0502020204030204" charset="0"/>
                <a:sym typeface="+mn-ea"/>
              </a:rPr>
              <a:t>fully dynamic multi-port, multi-queue shared caching</a:t>
            </a:r>
            <a:r>
              <a:rPr kumimoji="0" lang="en-US" altLang="zh-CN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pitchFamily="2" charset="-122"/>
                <a:cs typeface="Calibri" panose="020F0502020204030204" charset="0"/>
                <a:sym typeface="+mn-ea"/>
              </a:rPr>
              <a:t>.</a:t>
            </a:r>
            <a:endParaRPr kumimoji="0" lang="en-US" sz="11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charset="0"/>
              <a:ea typeface="+mn-ea"/>
              <a:cs typeface="Calibri" panose="020F0502020204030204" charset="0"/>
            </a:endParaRPr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41E573F7-CFBC-FF15-0D21-7A501DFA172C}"/>
              </a:ext>
            </a:extLst>
          </p:cNvPr>
          <p:cNvGrpSpPr/>
          <p:nvPr/>
        </p:nvGrpSpPr>
        <p:grpSpPr>
          <a:xfrm>
            <a:off x="7681473" y="2251278"/>
            <a:ext cx="411468" cy="3198053"/>
            <a:chOff x="7553900" y="2191442"/>
            <a:chExt cx="411468" cy="3198053"/>
          </a:xfrm>
        </p:grpSpPr>
        <p:sp>
          <p:nvSpPr>
            <p:cNvPr id="11" name="Title 1">
              <a:extLst>
                <a:ext uri="{FF2B5EF4-FFF2-40B4-BE49-F238E27FC236}">
                  <a16:creationId xmlns:a16="http://schemas.microsoft.com/office/drawing/2014/main" id="{73552934-9A4C-8BA6-C5C1-43290ACC20AF}"/>
                </a:ext>
              </a:extLst>
            </p:cNvPr>
            <p:cNvSpPr txBox="1"/>
            <p:nvPr/>
          </p:nvSpPr>
          <p:spPr>
            <a:xfrm>
              <a:off x="7553900" y="2200504"/>
              <a:ext cx="411468" cy="3188991"/>
            </a:xfrm>
            <a:prstGeom prst="rect">
              <a:avLst/>
            </a:prstGeom>
            <a:solidFill>
              <a:srgbClr val="2F2F2F"/>
            </a:solidFill>
          </p:spPr>
          <p:txBody>
            <a:bodyPr vert="wordArtVert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endParaRP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BD6851A8-1882-8B31-55E3-68DD3AAE7498}"/>
                </a:ext>
              </a:extLst>
            </p:cNvPr>
            <p:cNvSpPr txBox="1"/>
            <p:nvPr/>
          </p:nvSpPr>
          <p:spPr>
            <a:xfrm>
              <a:off x="7632531" y="4046406"/>
              <a:ext cx="276665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haroni" panose="02010803020104030203" pitchFamily="2" charset="-79"/>
                  <a:ea typeface="+mn-ea"/>
                  <a:cs typeface="Aharoni" panose="02010803020104030203" pitchFamily="2" charset="-79"/>
                </a:rPr>
                <a:t>D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53DBF633-9E41-C497-787E-07D0E27F8FC6}"/>
                </a:ext>
              </a:extLst>
            </p:cNvPr>
            <p:cNvSpPr txBox="1"/>
            <p:nvPr/>
          </p:nvSpPr>
          <p:spPr>
            <a:xfrm>
              <a:off x="7632531" y="4241230"/>
              <a:ext cx="276665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haroni" panose="02010803020104030203" pitchFamily="2" charset="-79"/>
                  <a:ea typeface="+mn-ea"/>
                  <a:cs typeface="Aharoni" panose="02010803020104030203" pitchFamily="2" charset="-79"/>
                </a:rPr>
                <a:t>E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2B20DBA9-A57B-59DA-C4C3-5C173FBFCD35}"/>
                </a:ext>
              </a:extLst>
            </p:cNvPr>
            <p:cNvSpPr txBox="1"/>
            <p:nvPr/>
          </p:nvSpPr>
          <p:spPr>
            <a:xfrm>
              <a:off x="7632531" y="4443469"/>
              <a:ext cx="276665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haroni" panose="02010803020104030203" pitchFamily="2" charset="-79"/>
                  <a:ea typeface="+mn-ea"/>
                  <a:cs typeface="Aharoni" panose="02010803020104030203" pitchFamily="2" charset="-79"/>
                </a:rPr>
                <a:t>S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D0220FCC-FBEE-2116-0636-9F21CB1F3DF4}"/>
                </a:ext>
              </a:extLst>
            </p:cNvPr>
            <p:cNvSpPr txBox="1"/>
            <p:nvPr/>
          </p:nvSpPr>
          <p:spPr>
            <a:xfrm>
              <a:off x="7632531" y="4638288"/>
              <a:ext cx="276665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haroni" panose="02010803020104030203" pitchFamily="2" charset="-79"/>
                  <a:ea typeface="+mn-ea"/>
                  <a:cs typeface="Aharoni" panose="02010803020104030203" pitchFamily="2" charset="-79"/>
                </a:rPr>
                <a:t>I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2D669323-0A80-BEB5-82FC-30426BAD64A4}"/>
                </a:ext>
              </a:extLst>
            </p:cNvPr>
            <p:cNvSpPr txBox="1"/>
            <p:nvPr/>
          </p:nvSpPr>
          <p:spPr>
            <a:xfrm>
              <a:off x="7632531" y="4824327"/>
              <a:ext cx="276665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haroni" panose="02010803020104030203" pitchFamily="2" charset="-79"/>
                  <a:ea typeface="+mn-ea"/>
                  <a:cs typeface="Aharoni" panose="02010803020104030203" pitchFamily="2" charset="-79"/>
                </a:rPr>
                <a:t>N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6193DCBE-5543-4968-3D35-F229847271FC}"/>
                </a:ext>
              </a:extLst>
            </p:cNvPr>
            <p:cNvSpPr txBox="1"/>
            <p:nvPr/>
          </p:nvSpPr>
          <p:spPr>
            <a:xfrm>
              <a:off x="7632531" y="5020163"/>
              <a:ext cx="276665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haroni" panose="02010803020104030203" pitchFamily="2" charset="-79"/>
                  <a:ea typeface="+mn-ea"/>
                  <a:cs typeface="Aharoni" panose="02010803020104030203" pitchFamily="2" charset="-79"/>
                </a:rPr>
                <a:t>G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00AA5CC8-8B46-2F2F-C36C-6DDACD8A8770}"/>
                </a:ext>
              </a:extLst>
            </p:cNvPr>
            <p:cNvSpPr txBox="1"/>
            <p:nvPr/>
          </p:nvSpPr>
          <p:spPr>
            <a:xfrm>
              <a:off x="7617663" y="2191442"/>
              <a:ext cx="276665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haroni" panose="02010803020104030203" pitchFamily="2" charset="-79"/>
                  <a:ea typeface="+mn-ea"/>
                  <a:cs typeface="Aharoni" panose="02010803020104030203" pitchFamily="2" charset="-79"/>
                </a:rPr>
                <a:t>C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6901F6F8-A5E2-D0AF-B01D-645B9B432140}"/>
                </a:ext>
              </a:extLst>
            </p:cNvPr>
            <p:cNvSpPr txBox="1"/>
            <p:nvPr/>
          </p:nvSpPr>
          <p:spPr>
            <a:xfrm>
              <a:off x="7632531" y="2386266"/>
              <a:ext cx="276665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haroni" panose="02010803020104030203" pitchFamily="2" charset="-79"/>
                  <a:ea typeface="+mn-ea"/>
                  <a:cs typeface="Aharoni" panose="02010803020104030203" pitchFamily="2" charset="-79"/>
                </a:rPr>
                <a:t>R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F3047A7F-20B6-0252-CF22-3A2DBBE79898}"/>
                </a:ext>
              </a:extLst>
            </p:cNvPr>
            <p:cNvSpPr txBox="1"/>
            <p:nvPr/>
          </p:nvSpPr>
          <p:spPr>
            <a:xfrm>
              <a:off x="7632531" y="2588505"/>
              <a:ext cx="276665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haroni" panose="02010803020104030203" pitchFamily="2" charset="-79"/>
                  <a:ea typeface="+mn-ea"/>
                  <a:cs typeface="Aharoni" panose="02010803020104030203" pitchFamily="2" charset="-79"/>
                </a:rPr>
                <a:t>E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34D23F74-8EC6-7EFC-7285-5C365A9F163C}"/>
                </a:ext>
              </a:extLst>
            </p:cNvPr>
            <p:cNvSpPr txBox="1"/>
            <p:nvPr/>
          </p:nvSpPr>
          <p:spPr>
            <a:xfrm>
              <a:off x="7632531" y="2783324"/>
              <a:ext cx="276665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haroni" panose="02010803020104030203" pitchFamily="2" charset="-79"/>
                  <a:ea typeface="+mn-ea"/>
                  <a:cs typeface="Aharoni" panose="02010803020104030203" pitchFamily="2" charset="-79"/>
                </a:rPr>
                <a:t>A</a:t>
              </a: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59A4DE8E-F703-D6CB-9A6D-FA17B034F93E}"/>
                </a:ext>
              </a:extLst>
            </p:cNvPr>
            <p:cNvSpPr txBox="1"/>
            <p:nvPr/>
          </p:nvSpPr>
          <p:spPr>
            <a:xfrm>
              <a:off x="7632531" y="2969363"/>
              <a:ext cx="276665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haroni" panose="02010803020104030203" pitchFamily="2" charset="-79"/>
                  <a:ea typeface="+mn-ea"/>
                  <a:cs typeface="Aharoni" panose="02010803020104030203" pitchFamily="2" charset="-79"/>
                </a:rPr>
                <a:t>T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BCA41FCF-BF67-955B-2DEA-6B19D4768251}"/>
                </a:ext>
              </a:extLst>
            </p:cNvPr>
            <p:cNvSpPr txBox="1"/>
            <p:nvPr/>
          </p:nvSpPr>
          <p:spPr>
            <a:xfrm>
              <a:off x="7632531" y="3165199"/>
              <a:ext cx="276665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haroni" panose="02010803020104030203" pitchFamily="2" charset="-79"/>
                  <a:ea typeface="+mn-ea"/>
                  <a:cs typeface="Aharoni" panose="02010803020104030203" pitchFamily="2" charset="-79"/>
                </a:rPr>
                <a:t>I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F3211B9E-4322-486D-039E-F39D412393F4}"/>
                </a:ext>
              </a:extLst>
            </p:cNvPr>
            <p:cNvSpPr txBox="1"/>
            <p:nvPr/>
          </p:nvSpPr>
          <p:spPr>
            <a:xfrm>
              <a:off x="7632531" y="3349683"/>
              <a:ext cx="276665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haroni" panose="02010803020104030203" pitchFamily="2" charset="-79"/>
                  <a:ea typeface="+mn-ea"/>
                  <a:cs typeface="Aharoni" panose="02010803020104030203" pitchFamily="2" charset="-79"/>
                </a:rPr>
                <a:t>V</a:t>
              </a: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1F48774A-4669-7583-3158-ED097DBB784F}"/>
                </a:ext>
              </a:extLst>
            </p:cNvPr>
            <p:cNvSpPr txBox="1"/>
            <p:nvPr/>
          </p:nvSpPr>
          <p:spPr>
            <a:xfrm>
              <a:off x="7632531" y="3550580"/>
              <a:ext cx="276665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haroni" panose="02010803020104030203" pitchFamily="2" charset="-79"/>
                  <a:ea typeface="+mn-ea"/>
                  <a:cs typeface="Aharoni" panose="02010803020104030203" pitchFamily="2" charset="-79"/>
                </a:rPr>
                <a:t>E</a:t>
              </a:r>
            </a:p>
          </p:txBody>
        </p:sp>
      </p:grpSp>
      <p:sp>
        <p:nvSpPr>
          <p:cNvPr id="95" name="TextBox 94">
            <a:extLst>
              <a:ext uri="{FF2B5EF4-FFF2-40B4-BE49-F238E27FC236}">
                <a16:creationId xmlns:a16="http://schemas.microsoft.com/office/drawing/2014/main" id="{726AD72A-8985-A02E-63FC-A79EB4FCC30E}"/>
              </a:ext>
            </a:extLst>
          </p:cNvPr>
          <p:cNvSpPr txBox="1"/>
          <p:nvPr/>
        </p:nvSpPr>
        <p:spPr>
          <a:xfrm>
            <a:off x="6344233" y="83501"/>
            <a:ext cx="2423195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Dasu Yan, Yixuan Lu, Bohan Li</a:t>
            </a:r>
          </a:p>
        </p:txBody>
      </p:sp>
      <p:sp>
        <p:nvSpPr>
          <p:cNvPr id="96" name="文本框 4">
            <a:extLst>
              <a:ext uri="{FF2B5EF4-FFF2-40B4-BE49-F238E27FC236}">
                <a16:creationId xmlns:a16="http://schemas.microsoft.com/office/drawing/2014/main" id="{58C70887-358A-7BB0-3B2F-3478A39897FF}"/>
              </a:ext>
            </a:extLst>
          </p:cNvPr>
          <p:cNvSpPr txBox="1"/>
          <p:nvPr/>
        </p:nvSpPr>
        <p:spPr>
          <a:xfrm>
            <a:off x="10099497" y="1628207"/>
            <a:ext cx="2238705" cy="2208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1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On board test by AMD ZYNQ7000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FEF45E0B-80C3-7E69-0218-8C11D2EAF7A7}"/>
              </a:ext>
            </a:extLst>
          </p:cNvPr>
          <p:cNvSpPr txBox="1"/>
          <p:nvPr/>
        </p:nvSpPr>
        <p:spPr>
          <a:xfrm>
            <a:off x="6354787" y="335502"/>
            <a:ext cx="272392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South China University of Technology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46A6A9DE-EE1F-DE3B-4D9B-5DB6851B8FCC}"/>
              </a:ext>
            </a:extLst>
          </p:cNvPr>
          <p:cNvSpPr txBox="1"/>
          <p:nvPr/>
        </p:nvSpPr>
        <p:spPr>
          <a:xfrm>
            <a:off x="7985596" y="862468"/>
            <a:ext cx="18900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00" cap="none" spc="0" normalizeH="0" baseline="0" noProof="0" dirty="0">
                <a:ln>
                  <a:noFill/>
                </a:ln>
                <a:solidFill>
                  <a:srgbClr val="242021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OpenHW2024</a:t>
            </a:r>
            <a:endParaRPr kumimoji="0" lang="en-US" sz="2000" b="1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BECFA5D2-FBAA-2269-5F3E-46637182BD73}"/>
              </a:ext>
            </a:extLst>
          </p:cNvPr>
          <p:cNvGrpSpPr/>
          <p:nvPr/>
        </p:nvGrpSpPr>
        <p:grpSpPr>
          <a:xfrm>
            <a:off x="8492386" y="2541522"/>
            <a:ext cx="377933" cy="1678530"/>
            <a:chOff x="8507018" y="2052136"/>
            <a:chExt cx="377933" cy="1678530"/>
          </a:xfrm>
        </p:grpSpPr>
        <p:sp>
          <p:nvSpPr>
            <p:cNvPr id="104" name="Title 1">
              <a:extLst>
                <a:ext uri="{FF2B5EF4-FFF2-40B4-BE49-F238E27FC236}">
                  <a16:creationId xmlns:a16="http://schemas.microsoft.com/office/drawing/2014/main" id="{176D8231-843A-7889-4421-9B7B8DFF9BD9}"/>
                </a:ext>
              </a:extLst>
            </p:cNvPr>
            <p:cNvSpPr txBox="1"/>
            <p:nvPr/>
          </p:nvSpPr>
          <p:spPr>
            <a:xfrm>
              <a:off x="8507018" y="2052136"/>
              <a:ext cx="377933" cy="1678530"/>
            </a:xfrm>
            <a:prstGeom prst="rect">
              <a:avLst/>
            </a:prstGeom>
            <a:solidFill>
              <a:srgbClr val="2F2F2F"/>
            </a:solidFill>
          </p:spPr>
          <p:txBody>
            <a:bodyPr vert="wordArtVert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endParaRP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689AD034-0A3F-198C-67B2-E5246B3C1D0A}"/>
                </a:ext>
              </a:extLst>
            </p:cNvPr>
            <p:cNvSpPr txBox="1"/>
            <p:nvPr/>
          </p:nvSpPr>
          <p:spPr>
            <a:xfrm>
              <a:off x="8555488" y="2200504"/>
              <a:ext cx="276665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haroni" panose="02010803020104030203" pitchFamily="2" charset="-79"/>
                  <a:ea typeface="+mn-ea"/>
                  <a:cs typeface="Aharoni" panose="02010803020104030203" pitchFamily="2" charset="-79"/>
                </a:rPr>
                <a:t>R</a:t>
              </a: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51473BC4-DAEF-FE59-75EA-75ACA2BDF2FB}"/>
                </a:ext>
              </a:extLst>
            </p:cNvPr>
            <p:cNvSpPr txBox="1"/>
            <p:nvPr/>
          </p:nvSpPr>
          <p:spPr>
            <a:xfrm>
              <a:off x="8555488" y="2389574"/>
              <a:ext cx="276665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haroni" panose="02010803020104030203" pitchFamily="2" charset="-79"/>
                  <a:ea typeface="+mn-ea"/>
                  <a:cs typeface="Aharoni" panose="02010803020104030203" pitchFamily="2" charset="-79"/>
                </a:rPr>
                <a:t>E</a:t>
              </a: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0D64BF7B-3463-8655-6E30-8A0F81D64811}"/>
                </a:ext>
              </a:extLst>
            </p:cNvPr>
            <p:cNvSpPr txBox="1"/>
            <p:nvPr/>
          </p:nvSpPr>
          <p:spPr>
            <a:xfrm>
              <a:off x="8555488" y="2592416"/>
              <a:ext cx="276665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haroni" panose="02010803020104030203" pitchFamily="2" charset="-79"/>
                  <a:ea typeface="+mn-ea"/>
                  <a:cs typeface="Aharoni" panose="02010803020104030203" pitchFamily="2" charset="-79"/>
                </a:rPr>
                <a:t>S</a:t>
              </a: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B013856C-5CCF-8A26-2A90-CABDDBFFBA73}"/>
                </a:ext>
              </a:extLst>
            </p:cNvPr>
            <p:cNvSpPr txBox="1"/>
            <p:nvPr/>
          </p:nvSpPr>
          <p:spPr>
            <a:xfrm>
              <a:off x="8555488" y="2810740"/>
              <a:ext cx="276665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haroni" panose="02010803020104030203" pitchFamily="2" charset="-79"/>
                  <a:ea typeface="+mn-ea"/>
                  <a:cs typeface="Aharoni" panose="02010803020104030203" pitchFamily="2" charset="-79"/>
                </a:rPr>
                <a:t>U</a:t>
              </a: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E074594A-1EFB-F4A4-AC89-16DCB8AD444A}"/>
                </a:ext>
              </a:extLst>
            </p:cNvPr>
            <p:cNvSpPr txBox="1"/>
            <p:nvPr/>
          </p:nvSpPr>
          <p:spPr>
            <a:xfrm>
              <a:off x="8555488" y="3017161"/>
              <a:ext cx="276665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haroni" panose="02010803020104030203" pitchFamily="2" charset="-79"/>
                  <a:ea typeface="+mn-ea"/>
                  <a:cs typeface="Aharoni" panose="02010803020104030203" pitchFamily="2" charset="-79"/>
                </a:rPr>
                <a:t>L</a:t>
              </a: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1B8A53B7-55EB-0138-C0B9-DE56866190D4}"/>
                </a:ext>
              </a:extLst>
            </p:cNvPr>
            <p:cNvSpPr txBox="1"/>
            <p:nvPr/>
          </p:nvSpPr>
          <p:spPr>
            <a:xfrm>
              <a:off x="8555488" y="3218373"/>
              <a:ext cx="276665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haroni" panose="02010803020104030203" pitchFamily="2" charset="-79"/>
                  <a:ea typeface="+mn-ea"/>
                  <a:cs typeface="Aharoni" panose="02010803020104030203" pitchFamily="2" charset="-79"/>
                </a:rPr>
                <a:t>T</a:t>
              </a:r>
            </a:p>
          </p:txBody>
        </p:sp>
      </p:grpSp>
      <p:pic>
        <p:nvPicPr>
          <p:cNvPr id="7" name="Picture 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26883E84-5CF6-71E4-4525-D7CFB2F8C7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36115" y="1033732"/>
            <a:ext cx="1699920" cy="956205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179EDCF8-E2F9-FDBC-770F-C72A05F174FA}"/>
              </a:ext>
            </a:extLst>
          </p:cNvPr>
          <p:cNvSpPr txBox="1"/>
          <p:nvPr/>
        </p:nvSpPr>
        <p:spPr>
          <a:xfrm>
            <a:off x="8547232" y="4447386"/>
            <a:ext cx="3557270" cy="21424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pitchFamily="2" charset="-122"/>
                <a:cs typeface="Calibri" panose="020F0502020204030204" charset="0"/>
                <a:sym typeface="+mn-ea"/>
              </a:rPr>
              <a:t>Hydra, our high-speed multi-port shared cache management module, not only fulfills basic switch functions but also offers strong scalability and performance, surpassing current market products.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pitchFamily="2" charset="-122"/>
                <a:cs typeface="Calibri" panose="020F0502020204030204" charset="0"/>
                <a:sym typeface="+mn-ea"/>
              </a:rPr>
              <a:t>With the rapid rise of 3D ICs and M3D technology, Hydra’s 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pitchFamily="2" charset="-122"/>
                <a:cs typeface="Calibri" panose="020F0502020204030204" charset="0"/>
                <a:sym typeface="+mn-ea"/>
              </a:rPr>
              <a:t>16×32 Crossbar 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pitchFamily="2" charset="-122"/>
                <a:cs typeface="Calibri" panose="020F0502020204030204" charset="0"/>
                <a:sym typeface="+mn-ea"/>
              </a:rPr>
              <a:t>architecture is well-positioned for future high-dimensional designs. As 3D integration advances, Hydra could evolve into higher-dimensional structures, unlocking unparalleled performance for 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pitchFamily="2" charset="-122"/>
                <a:cs typeface="Calibri" panose="020F0502020204030204" charset="0"/>
                <a:sym typeface="+mn-ea"/>
              </a:rPr>
              <a:t>5G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pitchFamily="2" charset="-122"/>
                <a:cs typeface="Calibri" panose="020F0502020204030204" charset="0"/>
                <a:sym typeface="+mn-ea"/>
              </a:rPr>
              <a:t> and 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pitchFamily="2" charset="-122"/>
                <a:cs typeface="Calibri" panose="020F0502020204030204" charset="0"/>
                <a:sym typeface="+mn-ea"/>
              </a:rPr>
              <a:t>6G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pitchFamily="2" charset="-122"/>
                <a:cs typeface="Calibri" panose="020F0502020204030204" charset="0"/>
                <a:sym typeface="+mn-ea"/>
              </a:rPr>
              <a:t> network applications. This is the future we aim for.</a:t>
            </a:r>
          </a:p>
        </p:txBody>
      </p:sp>
      <p:sp>
        <p:nvSpPr>
          <p:cNvPr id="14" name="文本框 4">
            <a:extLst>
              <a:ext uri="{FF2B5EF4-FFF2-40B4-BE49-F238E27FC236}">
                <a16:creationId xmlns:a16="http://schemas.microsoft.com/office/drawing/2014/main" id="{617FAB33-2EF1-9416-0A48-E8F7DF225D8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680088" y="3328896"/>
            <a:ext cx="2695575" cy="2444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1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System Architecture</a:t>
            </a:r>
          </a:p>
        </p:txBody>
      </p:sp>
      <p:sp>
        <p:nvSpPr>
          <p:cNvPr id="25" name="矩形: 圆角 11">
            <a:extLst>
              <a:ext uri="{FF2B5EF4-FFF2-40B4-BE49-F238E27FC236}">
                <a16:creationId xmlns:a16="http://schemas.microsoft.com/office/drawing/2014/main" id="{60DAD9AF-320E-851F-198B-7DA4B952BA50}"/>
              </a:ext>
            </a:extLst>
          </p:cNvPr>
          <p:cNvSpPr/>
          <p:nvPr/>
        </p:nvSpPr>
        <p:spPr>
          <a:xfrm>
            <a:off x="4328320" y="3730665"/>
            <a:ext cx="3274725" cy="2909875"/>
          </a:xfrm>
          <a:prstGeom prst="roundRect">
            <a:avLst/>
          </a:prstGeom>
          <a:solidFill>
            <a:schemeClr val="bg1"/>
          </a:solidFill>
          <a:effectLst>
            <a:glow rad="63500">
              <a:schemeClr val="accent3">
                <a:satMod val="175000"/>
                <a:alpha val="40000"/>
              </a:schemeClr>
            </a:glow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>
            <a:defPPr>
              <a:defRPr lang="en-US"/>
            </a:defPPr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1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kumimoji="0" lang="en-US" altLang="zh-CN" sz="11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ighlights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1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I</a:t>
            </a:r>
            <a:r>
              <a:rPr kumimoji="0" lang="en-US" altLang="zh-CN" sz="11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nnovations</a:t>
            </a:r>
            <a:endParaRPr kumimoji="0" lang="en-US" altLang="zh-CN" sz="11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lvl="0" indent="-171450">
              <a:buSzPct val="90000"/>
              <a:buFont typeface="Wingdings" panose="05000000000000000000" pitchFamily="2" charset="2"/>
              <a:buChar char="«"/>
              <a:defRPr/>
            </a:pPr>
            <a:r>
              <a:rPr lang="en-US" altLang="zh-CN" sz="1100" b="1" dirty="0">
                <a:solidFill>
                  <a:schemeClr val="tx1"/>
                </a:solidFill>
                <a:latin typeface="Calibri "/>
              </a:rPr>
              <a:t>Optimized Crossbar Design</a:t>
            </a:r>
            <a:r>
              <a:rPr lang="en-US" altLang="zh-CN" sz="1100" dirty="0">
                <a:solidFill>
                  <a:schemeClr val="tx1"/>
                </a:solidFill>
                <a:latin typeface="Calibri "/>
              </a:rPr>
              <a:t>: Resolves key inefficiencies of traditional switches.</a:t>
            </a:r>
          </a:p>
          <a:p>
            <a:pPr marL="171450" lvl="0" indent="-171450">
              <a:buSzPct val="90000"/>
              <a:buFont typeface="Wingdings" panose="05000000000000000000" pitchFamily="2" charset="2"/>
              <a:buChar char="«"/>
              <a:defRPr/>
            </a:pPr>
            <a:r>
              <a:rPr lang="en-US" altLang="zh-CN" sz="1100" b="1" dirty="0">
                <a:solidFill>
                  <a:schemeClr val="tx1"/>
                </a:solidFill>
                <a:latin typeface="Calibri "/>
              </a:rPr>
              <a:t>Efficient Priority Queues</a:t>
            </a:r>
            <a:r>
              <a:rPr lang="en-US" altLang="zh-CN" sz="1100" dirty="0">
                <a:solidFill>
                  <a:schemeClr val="tx1"/>
                </a:solidFill>
                <a:latin typeface="Calibri "/>
              </a:rPr>
              <a:t>: Reduces resource use with jump table optimization.</a:t>
            </a:r>
          </a:p>
          <a:p>
            <a:pPr marL="171450" lvl="0" indent="-171450">
              <a:buSzPct val="90000"/>
              <a:buFont typeface="Wingdings" panose="05000000000000000000" pitchFamily="2" charset="2"/>
              <a:buChar char="«"/>
              <a:defRPr/>
            </a:pPr>
            <a:r>
              <a:rPr lang="en-US" altLang="zh-CN" sz="1100" b="1" dirty="0">
                <a:solidFill>
                  <a:schemeClr val="tx1"/>
                </a:solidFill>
                <a:latin typeface="Calibri "/>
              </a:rPr>
              <a:t>Advanced Read-Write</a:t>
            </a:r>
            <a:r>
              <a:rPr lang="en-US" altLang="zh-CN" sz="1100" dirty="0">
                <a:solidFill>
                  <a:schemeClr val="tx1"/>
                </a:solidFill>
                <a:latin typeface="Calibri "/>
              </a:rPr>
              <a:t>: Supports fast splicing, breakpoint resumption, and packet-level operations.</a:t>
            </a:r>
          </a:p>
          <a:p>
            <a:pPr marL="171450" lvl="0" indent="-171450">
              <a:buSzPct val="90000"/>
              <a:buFont typeface="Wingdings" panose="05000000000000000000" pitchFamily="2" charset="2"/>
              <a:buChar char="«"/>
              <a:defRPr/>
            </a:pPr>
            <a:r>
              <a:rPr lang="en-US" altLang="zh-CN" sz="1100" b="1" dirty="0">
                <a:solidFill>
                  <a:schemeClr val="tx1"/>
                </a:solidFill>
                <a:latin typeface="Calibri "/>
              </a:rPr>
              <a:t>Dynamic Allocation</a:t>
            </a:r>
            <a:r>
              <a:rPr lang="en-US" altLang="zh-CN" sz="1100" dirty="0">
                <a:solidFill>
                  <a:schemeClr val="tx1"/>
                </a:solidFill>
                <a:latin typeface="Calibri "/>
              </a:rPr>
              <a:t>: Integrates dynamic and static resource matching for flexibility.</a:t>
            </a:r>
          </a:p>
          <a:p>
            <a:pPr marL="171450" lvl="0" indent="-171450">
              <a:buSzPct val="90000"/>
              <a:buFont typeface="Wingdings" panose="05000000000000000000" pitchFamily="2" charset="2"/>
              <a:buChar char="«"/>
              <a:defRPr/>
            </a:pPr>
            <a:r>
              <a:rPr lang="en-US" altLang="zh-CN" sz="1100" b="1" dirty="0">
                <a:solidFill>
                  <a:schemeClr val="tx1"/>
                </a:solidFill>
                <a:latin typeface="Calibri "/>
              </a:rPr>
              <a:t>Reliable Data Handling</a:t>
            </a:r>
            <a:r>
              <a:rPr lang="en-US" altLang="zh-CN" sz="1100" dirty="0">
                <a:solidFill>
                  <a:schemeClr val="tx1"/>
                </a:solidFill>
                <a:latin typeface="Calibri "/>
              </a:rPr>
              <a:t>: Ensures efficiency with optimized encoding-decoding and low-complexity WRR.</a:t>
            </a:r>
            <a:b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</a:b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718EB1F4-A057-CB30-E7E0-F867C268F13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9263" y="125783"/>
            <a:ext cx="711592" cy="711592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A48D2BCC-058C-5FC6-AE1E-2CE4B1A3BB1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9497" y="137732"/>
            <a:ext cx="1890043" cy="1417933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59" name="图形 58" descr="计算机">
            <a:extLst>
              <a:ext uri="{FF2B5EF4-FFF2-40B4-BE49-F238E27FC236}">
                <a16:creationId xmlns:a16="http://schemas.microsoft.com/office/drawing/2014/main" id="{E5F93F1D-1BCF-06DB-8EEF-FB9589166E8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80099" y="2399249"/>
            <a:ext cx="617955" cy="617955"/>
          </a:xfrm>
          <a:prstGeom prst="rect">
            <a:avLst/>
          </a:prstGeom>
        </p:spPr>
      </p:pic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2F5B2B46-23BE-34B5-DD58-3A1B565A86B7}"/>
              </a:ext>
            </a:extLst>
          </p:cNvPr>
          <p:cNvCxnSpPr/>
          <p:nvPr/>
        </p:nvCxnSpPr>
        <p:spPr>
          <a:xfrm>
            <a:off x="1490366" y="2691292"/>
            <a:ext cx="374650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2" name="图形 61" descr="计算机">
            <a:extLst>
              <a:ext uri="{FF2B5EF4-FFF2-40B4-BE49-F238E27FC236}">
                <a16:creationId xmlns:a16="http://schemas.microsoft.com/office/drawing/2014/main" id="{BDC5FE43-5988-01E8-6E0C-682CD5E6ADE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860163" y="2399249"/>
            <a:ext cx="617955" cy="617955"/>
          </a:xfrm>
          <a:prstGeom prst="rect">
            <a:avLst/>
          </a:prstGeom>
        </p:spPr>
      </p:pic>
      <p:pic>
        <p:nvPicPr>
          <p:cNvPr id="64" name="图形 63" descr="服务器">
            <a:extLst>
              <a:ext uri="{FF2B5EF4-FFF2-40B4-BE49-F238E27FC236}">
                <a16:creationId xmlns:a16="http://schemas.microsoft.com/office/drawing/2014/main" id="{95E8C902-E98F-DF11-8AA7-9DC716A00E5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864553" y="2426041"/>
            <a:ext cx="557767" cy="557767"/>
          </a:xfrm>
          <a:prstGeom prst="rect">
            <a:avLst/>
          </a:prstGeom>
        </p:spPr>
      </p:pic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718BF7AA-2AE1-8438-92B5-385277DE8EC2}"/>
              </a:ext>
            </a:extLst>
          </p:cNvPr>
          <p:cNvCxnSpPr/>
          <p:nvPr/>
        </p:nvCxnSpPr>
        <p:spPr>
          <a:xfrm>
            <a:off x="2401137" y="2691292"/>
            <a:ext cx="374650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" name="文本框 65">
            <a:extLst>
              <a:ext uri="{FF2B5EF4-FFF2-40B4-BE49-F238E27FC236}">
                <a16:creationId xmlns:a16="http://schemas.microsoft.com/office/drawing/2014/main" id="{ADF94D59-D955-2476-86E7-D46C3A805B09}"/>
              </a:ext>
            </a:extLst>
          </p:cNvPr>
          <p:cNvSpPr txBox="1"/>
          <p:nvPr/>
        </p:nvSpPr>
        <p:spPr>
          <a:xfrm>
            <a:off x="1446126" y="2491365"/>
            <a:ext cx="5088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chemeClr val="bg2">
                    <a:lumMod val="50000"/>
                  </a:schemeClr>
                </a:solidFill>
                <a:latin typeface="Calibri "/>
              </a:rPr>
              <a:t>Data</a:t>
            </a:r>
            <a:endParaRPr lang="zh-CN" altLang="en-US" sz="1000" dirty="0">
              <a:solidFill>
                <a:schemeClr val="bg2">
                  <a:lumMod val="50000"/>
                </a:schemeClr>
              </a:solidFill>
              <a:latin typeface="Calibri 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80998501-EB8F-F9E9-5ACF-E337D8764492}"/>
              </a:ext>
            </a:extLst>
          </p:cNvPr>
          <p:cNvSpPr txBox="1"/>
          <p:nvPr/>
        </p:nvSpPr>
        <p:spPr>
          <a:xfrm>
            <a:off x="2350464" y="2491365"/>
            <a:ext cx="5088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chemeClr val="bg2">
                    <a:lumMod val="50000"/>
                  </a:schemeClr>
                </a:solidFill>
                <a:latin typeface="Calibri "/>
              </a:rPr>
              <a:t>Data</a:t>
            </a:r>
            <a:endParaRPr lang="zh-CN" altLang="en-US" sz="1000" dirty="0">
              <a:solidFill>
                <a:schemeClr val="bg2">
                  <a:lumMod val="50000"/>
                </a:schemeClr>
              </a:solidFill>
              <a:latin typeface="Calibri "/>
            </a:endParaRP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01EF60F5-E8D1-CA21-F20E-5EB9D3287F53}"/>
              </a:ext>
            </a:extLst>
          </p:cNvPr>
          <p:cNvSpPr txBox="1"/>
          <p:nvPr/>
        </p:nvSpPr>
        <p:spPr>
          <a:xfrm>
            <a:off x="1868369" y="2922255"/>
            <a:ext cx="5787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latin typeface="Calibri "/>
              </a:rPr>
              <a:t>Switch</a:t>
            </a:r>
            <a:endParaRPr lang="zh-CN" altLang="en-US" sz="1000" b="1" dirty="0">
              <a:latin typeface="Calibri "/>
            </a:endParaRP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A75456F5-28B0-1EEB-14E4-5E4640A1DC0F}"/>
              </a:ext>
            </a:extLst>
          </p:cNvPr>
          <p:cNvSpPr txBox="1"/>
          <p:nvPr/>
        </p:nvSpPr>
        <p:spPr>
          <a:xfrm>
            <a:off x="928100" y="2918022"/>
            <a:ext cx="38168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latin typeface="Calibri "/>
              </a:rPr>
              <a:t>PC</a:t>
            </a:r>
            <a:endParaRPr lang="zh-CN" altLang="en-US" sz="1000" b="1" dirty="0">
              <a:latin typeface="Calibri 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FF22CF3A-106E-2856-6CAC-70D0E7893A94}"/>
              </a:ext>
            </a:extLst>
          </p:cNvPr>
          <p:cNvSpPr txBox="1"/>
          <p:nvPr/>
        </p:nvSpPr>
        <p:spPr>
          <a:xfrm>
            <a:off x="3068063" y="2918022"/>
            <a:ext cx="38168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latin typeface="Calibri "/>
              </a:rPr>
              <a:t>PC</a:t>
            </a:r>
            <a:endParaRPr lang="zh-CN" altLang="en-US" sz="1000" b="1" dirty="0">
              <a:latin typeface="Calibri "/>
            </a:endParaRPr>
          </a:p>
        </p:txBody>
      </p:sp>
      <p:sp>
        <p:nvSpPr>
          <p:cNvPr id="117" name="等腰三角形 116">
            <a:extLst>
              <a:ext uri="{FF2B5EF4-FFF2-40B4-BE49-F238E27FC236}">
                <a16:creationId xmlns:a16="http://schemas.microsoft.com/office/drawing/2014/main" id="{A2309092-DD9B-960A-21F8-77453EF2849F}"/>
              </a:ext>
            </a:extLst>
          </p:cNvPr>
          <p:cNvSpPr/>
          <p:nvPr/>
        </p:nvSpPr>
        <p:spPr>
          <a:xfrm rot="2242582">
            <a:off x="6705338" y="495254"/>
            <a:ext cx="1084569" cy="608702"/>
          </a:xfrm>
          <a:prstGeom prst="triangle">
            <a:avLst>
              <a:gd name="adj" fmla="val 51811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27679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7B9918D3-E7A9-00E4-6846-A5D771229412}"/>
              </a:ext>
            </a:extLst>
          </p:cNvPr>
          <p:cNvSpPr txBox="1">
            <a:spLocks/>
          </p:cNvSpPr>
          <p:nvPr/>
        </p:nvSpPr>
        <p:spPr>
          <a:xfrm>
            <a:off x="179805" y="1777776"/>
            <a:ext cx="3778396" cy="482050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Radio telescopes use wireless radio reception, measurement, and analysis of celestial radio signals to explore the radio window of celestial bodies after the optical window.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 typical radio telescope system consists of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 antenna system, a receiver analog front-end system, a data processing and recording system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 Most of the current receiver systems have the capability of accumulate integration, FFT transformation, and correlation calculation, but cannot retain the raw data of the radio signals, Lost a lot of temporal information.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Key technical issues addressed: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1. Signal acquisition, High-performance ADC (Analog-to-Digital Converter) device.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 Data receiving and processing, AMD-Xilinx 7 series Zynq System on a Chip (SoC) devices.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 Data transmitting, SERDES (Serializer/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Deserializer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 Interface with GTX for 10G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linerate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4. Data storing, Dedicated server with disk array and RNIC support.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972" y="1093081"/>
            <a:ext cx="2795337" cy="465054"/>
          </a:xfrm>
          <a:solidFill>
            <a:srgbClr val="2F2F2F"/>
          </a:solidFill>
        </p:spPr>
        <p:txBody>
          <a:bodyPr>
            <a:normAutofit/>
          </a:bodyPr>
          <a:lstStyle/>
          <a:p>
            <a:pPr algn="ctr"/>
            <a:r>
              <a:rPr lang="en-US" sz="1800" b="1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2885" y="259715"/>
            <a:ext cx="67894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Title 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Font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：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Times New Roman Size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：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24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" name="Title 1"/>
          <p:cNvSpPr txBox="1"/>
          <p:nvPr/>
        </p:nvSpPr>
        <p:spPr>
          <a:xfrm>
            <a:off x="7733160" y="2090674"/>
            <a:ext cx="411468" cy="3188991"/>
          </a:xfrm>
          <a:prstGeom prst="rect">
            <a:avLst/>
          </a:prstGeom>
          <a:solidFill>
            <a:srgbClr val="2F2F2F"/>
          </a:solidFill>
        </p:spPr>
        <p:txBody>
          <a:bodyPr vert="wordArtVert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7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j-ea"/>
              <a:cs typeface="+mj-cs"/>
            </a:endParaRPr>
          </a:p>
        </p:txBody>
      </p:sp>
      <p:sp>
        <p:nvSpPr>
          <p:cNvPr id="44" name="文本框 4"/>
          <p:cNvSpPr txBox="1"/>
          <p:nvPr/>
        </p:nvSpPr>
        <p:spPr>
          <a:xfrm>
            <a:off x="974840" y="3302281"/>
            <a:ext cx="1882140" cy="2444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1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Typical application case</a:t>
            </a:r>
          </a:p>
        </p:txBody>
      </p:sp>
      <p:cxnSp>
        <p:nvCxnSpPr>
          <p:cNvPr id="48" name="Straight Connector 47"/>
          <p:cNvCxnSpPr/>
          <p:nvPr/>
        </p:nvCxnSpPr>
        <p:spPr>
          <a:xfrm>
            <a:off x="6096000" y="259496"/>
            <a:ext cx="2213128" cy="165852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 flipV="1">
            <a:off x="8309128" y="1905826"/>
            <a:ext cx="3659900" cy="11458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>
            <a:off x="8309128" y="1918018"/>
            <a:ext cx="0" cy="4622357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8986520" y="2263141"/>
            <a:ext cx="3094990" cy="37884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1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pitchFamily="2" charset="-122"/>
                <a:cs typeface="Calibri" panose="020F0502020204030204" charset="0"/>
                <a:sym typeface="+mn-ea"/>
              </a:rPr>
              <a:t>The completed work has verified the architecture of using a high-performance ADC (Analog-to-Digital Converter) to acquire multiple beams from a radio reception antenna.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charset="0"/>
              <a:ea typeface="等线" panose="02010600030101010101" pitchFamily="2" charset="-122"/>
              <a:cs typeface="Calibri" panose="020F050202020403020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pitchFamily="2" charset="-122"/>
                <a:cs typeface="Calibri" panose="020F0502020204030204" charset="0"/>
                <a:sym typeface="+mn-ea"/>
              </a:rPr>
              <a:t>The system is composed of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pitchFamily="2" charset="-122"/>
                <a:cs typeface="Calibri" panose="020F0502020204030204" charset="0"/>
                <a:sym typeface="+mn-ea"/>
              </a:rPr>
              <a:t> independent components, with a flexible and highly scalable architecture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pitchFamily="2" charset="-122"/>
                <a:cs typeface="Calibri" panose="020F0502020204030204" charset="0"/>
                <a:sym typeface="+mn-ea"/>
              </a:rPr>
              <a:t>. It is based on FPGA's logic programmability and </a:t>
            </a:r>
            <a:r>
              <a:rPr kumimoji="0" lang="en-US" altLang="zh-CN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pitchFamily="2" charset="-122"/>
                <a:cs typeface="Calibri" panose="020F0502020204030204" charset="0"/>
                <a:sym typeface="+mn-ea"/>
              </a:rPr>
              <a:t>serdes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pitchFamily="2" charset="-122"/>
                <a:cs typeface="Calibri" panose="020F0502020204030204" charset="0"/>
                <a:sym typeface="+mn-ea"/>
              </a:rPr>
              <a:t> technology support, which enables it to meet higher performance requirements.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charset="0"/>
              <a:ea typeface="等线" panose="02010600030101010101" pitchFamily="2" charset="-122"/>
              <a:cs typeface="Calibri" panose="020F050202020403020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charset="0"/>
              <a:ea typeface="+mn-ea"/>
              <a:cs typeface="Calibri" panose="020F0502020204030204" charset="0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7811791" y="3936576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D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811791" y="4131400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811791" y="4333639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811791" y="4528458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I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11791" y="4714497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N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811791" y="4910333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G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796923" y="2081612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C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11791" y="2276436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R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811791" y="2478675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E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811791" y="2673494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A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811791" y="2859533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T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11791" y="3055369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I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811791" y="3239853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V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811791" y="3440750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E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461756" y="160443"/>
            <a:ext cx="2423195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Zhang San, Li Si</a:t>
            </a:r>
          </a:p>
        </p:txBody>
      </p:sp>
      <p:sp>
        <p:nvSpPr>
          <p:cNvPr id="96" name="文本框 4"/>
          <p:cNvSpPr txBox="1"/>
          <p:nvPr/>
        </p:nvSpPr>
        <p:spPr>
          <a:xfrm>
            <a:off x="10035854" y="1607120"/>
            <a:ext cx="2238705" cy="2208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1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On board test by AMD ZYNQ7000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837045" y="381000"/>
            <a:ext cx="380047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University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8145354" y="880328"/>
            <a:ext cx="433435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00" cap="none" spc="0" normalizeH="0" baseline="0" noProof="0" dirty="0">
                <a:ln>
                  <a:noFill/>
                </a:ln>
                <a:solidFill>
                  <a:srgbClr val="242021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OpenHW2024</a:t>
            </a:r>
            <a:endParaRPr kumimoji="0" lang="en-US" sz="2000" b="1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4" name="Title 1"/>
          <p:cNvSpPr txBox="1"/>
          <p:nvPr/>
        </p:nvSpPr>
        <p:spPr>
          <a:xfrm>
            <a:off x="8507018" y="2052136"/>
            <a:ext cx="377933" cy="1678530"/>
          </a:xfrm>
          <a:prstGeom prst="rect">
            <a:avLst/>
          </a:prstGeom>
          <a:solidFill>
            <a:srgbClr val="2F2F2F"/>
          </a:solidFill>
        </p:spPr>
        <p:txBody>
          <a:bodyPr vert="wordArtVert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7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j-ea"/>
              <a:cs typeface="+mj-cs"/>
            </a:endParaRPr>
          </a:p>
        </p:txBody>
      </p:sp>
      <p:sp>
        <p:nvSpPr>
          <p:cNvPr id="105" name="TextBox 104"/>
          <p:cNvSpPr txBox="1"/>
          <p:nvPr/>
        </p:nvSpPr>
        <p:spPr>
          <a:xfrm>
            <a:off x="8555488" y="2200504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R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555488" y="2389574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E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555488" y="2592416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S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555488" y="2810740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U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555488" y="3017161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L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555488" y="3218373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T</a:t>
            </a:r>
          </a:p>
        </p:txBody>
      </p:sp>
      <p:pic>
        <p:nvPicPr>
          <p:cNvPr id="7" name="Picture 6" descr="A black background with a black square&#10;&#10;Description automatically generated with medium confidenc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0993" y="1052915"/>
            <a:ext cx="1764303" cy="99242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8544560" y="4236085"/>
            <a:ext cx="3557270" cy="21424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pitchFamily="2" charset="-122"/>
                <a:cs typeface="Calibri" panose="020F0502020204030204" charset="0"/>
                <a:sym typeface="+mn-ea"/>
              </a:rPr>
              <a:t>SFP+ interface is driven directly by GTX, can be programmed by users to support various communication protocols. This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pitchFamily="2" charset="-122"/>
                <a:cs typeface="Calibri" panose="020F0502020204030204" charset="0"/>
                <a:sym typeface="+mn-ea"/>
              </a:rPr>
              <a:t> high degree of programmability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pitchFamily="2" charset="-122"/>
                <a:cs typeface="Calibri" panose="020F0502020204030204" charset="0"/>
                <a:sym typeface="+mn-ea"/>
              </a:rPr>
              <a:t> ensures maximum compatibility with both existing and future communication devices, thereby reducing the cost of device deployment and iterative updates.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charset="0"/>
              <a:ea typeface="等线" panose="02010600030101010101" pitchFamily="2" charset="-122"/>
              <a:cs typeface="Calibri" panose="020F050202020403020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pitchFamily="2" charset="-122"/>
                <a:cs typeface="Calibri" panose="020F0502020204030204" charset="0"/>
                <a:sym typeface="+mn-ea"/>
              </a:rPr>
              <a:t>Raw data storage requires a significant amount of storage bandwidth. 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pitchFamily="2" charset="-122"/>
                <a:cs typeface="Calibri" panose="020F0502020204030204" charset="0"/>
                <a:sym typeface="+mn-ea"/>
              </a:rPr>
              <a:t>The limitations 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pitchFamily="2" charset="-122"/>
                <a:cs typeface="Calibri" panose="020F0502020204030204" charset="0"/>
                <a:sym typeface="+mn-ea"/>
              </a:rPr>
              <a:t>of current storage devices necessitate the need to build disk arrays that can support high-bandwidth data storage. </a:t>
            </a:r>
          </a:p>
        </p:txBody>
      </p:sp>
      <p:pic>
        <p:nvPicPr>
          <p:cNvPr id="8" name="图片 7" descr="introduce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290" y="2451206"/>
            <a:ext cx="3317240" cy="761365"/>
          </a:xfrm>
          <a:prstGeom prst="rect">
            <a:avLst/>
          </a:prstGeom>
        </p:spPr>
      </p:pic>
      <p:sp>
        <p:nvSpPr>
          <p:cNvPr id="14" name="文本框 4"/>
          <p:cNvSpPr txBox="1"/>
          <p:nvPr>
            <p:custDataLst>
              <p:tags r:id="rId1"/>
            </p:custDataLst>
          </p:nvPr>
        </p:nvSpPr>
        <p:spPr>
          <a:xfrm>
            <a:off x="4383482" y="3544112"/>
            <a:ext cx="2695575" cy="2444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1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System Architecture</a:t>
            </a:r>
          </a:p>
        </p:txBody>
      </p:sp>
      <p:pic>
        <p:nvPicPr>
          <p:cNvPr id="10" name="图片 2">
            <a:extLst>
              <a:ext uri="{FF2B5EF4-FFF2-40B4-BE49-F238E27FC236}">
                <a16:creationId xmlns:a16="http://schemas.microsoft.com/office/drawing/2014/main" id="{E5277B45-CC04-B3E9-8F3B-6EAE9CA17F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56092" y="1164767"/>
            <a:ext cx="3064081" cy="2194033"/>
          </a:xfrm>
          <a:prstGeom prst="rect">
            <a:avLst/>
          </a:prstGeom>
        </p:spPr>
      </p:pic>
      <p:sp>
        <p:nvSpPr>
          <p:cNvPr id="24" name="矩形: 圆角 10">
            <a:extLst>
              <a:ext uri="{FF2B5EF4-FFF2-40B4-BE49-F238E27FC236}">
                <a16:creationId xmlns:a16="http://schemas.microsoft.com/office/drawing/2014/main" id="{4137E1DC-4316-A8F5-0110-E72BC587D46B}"/>
              </a:ext>
            </a:extLst>
          </p:cNvPr>
          <p:cNvSpPr/>
          <p:nvPr/>
        </p:nvSpPr>
        <p:spPr>
          <a:xfrm>
            <a:off x="4209513" y="5567296"/>
            <a:ext cx="3288217" cy="101202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High-speed Acquisition Card:</a:t>
            </a:r>
          </a:p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1. Sampling and Quantization of Analog Signals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;</a:t>
            </a:r>
          </a:p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2. Receiving and Handling data from ADC;</a:t>
            </a:r>
          </a:p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3. Transporting data to next work platform;</a:t>
            </a:r>
          </a:p>
        </p:txBody>
      </p:sp>
      <p:sp>
        <p:nvSpPr>
          <p:cNvPr id="25" name="矩形: 圆角 11">
            <a:extLst>
              <a:ext uri="{FF2B5EF4-FFF2-40B4-BE49-F238E27FC236}">
                <a16:creationId xmlns:a16="http://schemas.microsoft.com/office/drawing/2014/main" id="{87DCDF71-0F6F-31F2-E734-5BDD6F2EA8FF}"/>
              </a:ext>
            </a:extLst>
          </p:cNvPr>
          <p:cNvSpPr/>
          <p:nvPr/>
        </p:nvSpPr>
        <p:spPr>
          <a:xfrm>
            <a:off x="4223004" y="3859322"/>
            <a:ext cx="3274725" cy="156650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Optical Communication Receiver Card:</a:t>
            </a:r>
          </a:p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1. Communicating with the acquisition card;</a:t>
            </a:r>
          </a:p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2. Receiving and Handling data from SFP+ with protocol such as Ethernet, Aurora and so on;</a:t>
            </a:r>
          </a:p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3. Acting as an assistant to speed up the data processing workflow;</a:t>
            </a:r>
          </a:p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4. Collaborating with the server for data uplink and downlink;</a:t>
            </a:r>
          </a:p>
        </p:txBody>
      </p:sp>
      <p:pic>
        <p:nvPicPr>
          <p:cNvPr id="27" name="图片 5">
            <a:extLst>
              <a:ext uri="{FF2B5EF4-FFF2-40B4-BE49-F238E27FC236}">
                <a16:creationId xmlns:a16="http://schemas.microsoft.com/office/drawing/2014/main" id="{7DE7C564-845A-8C81-D0BA-16A0FFCA07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3965" y="112897"/>
            <a:ext cx="1286564" cy="112463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17697-36BD-9FA7-05A9-312CE83A7ACD}"/>
              </a:ext>
            </a:extLst>
          </p:cNvPr>
          <p:cNvSpPr txBox="1">
            <a:spLocks/>
          </p:cNvSpPr>
          <p:nvPr/>
        </p:nvSpPr>
        <p:spPr>
          <a:xfrm>
            <a:off x="1036793" y="1576933"/>
            <a:ext cx="2221767" cy="2518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Font: Calibri(Body) Size:11  Size:11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2CF566C-B6D6-7A1B-8D6E-25424A8F8B15}"/>
              </a:ext>
            </a:extLst>
          </p:cNvPr>
          <p:cNvSpPr txBox="1">
            <a:spLocks/>
          </p:cNvSpPr>
          <p:nvPr/>
        </p:nvSpPr>
        <p:spPr>
          <a:xfrm>
            <a:off x="7037169" y="-1643"/>
            <a:ext cx="3436277" cy="2518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Team Member Names Font: 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Times New Roman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Size:12 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A8ED001-AD53-95D6-9621-8BDEB2523D62}"/>
              </a:ext>
            </a:extLst>
          </p:cNvPr>
          <p:cNvSpPr txBox="1">
            <a:spLocks/>
          </p:cNvSpPr>
          <p:nvPr/>
        </p:nvSpPr>
        <p:spPr>
          <a:xfrm>
            <a:off x="10360536" y="1393972"/>
            <a:ext cx="1313365" cy="2518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作品实物缩略图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78DDF753-2B35-BDDC-7305-343252EE65AF}"/>
              </a:ext>
            </a:extLst>
          </p:cNvPr>
          <p:cNvSpPr txBox="1">
            <a:spLocks/>
          </p:cNvSpPr>
          <p:nvPr/>
        </p:nvSpPr>
        <p:spPr>
          <a:xfrm>
            <a:off x="10272665" y="1903396"/>
            <a:ext cx="1829165" cy="2518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作品测试平台信息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79AEAEC-AE23-AA1A-5160-829364B76C3D}"/>
              </a:ext>
            </a:extLst>
          </p:cNvPr>
          <p:cNvSpPr txBox="1">
            <a:spLocks/>
          </p:cNvSpPr>
          <p:nvPr/>
        </p:nvSpPr>
        <p:spPr>
          <a:xfrm>
            <a:off x="9379172" y="549605"/>
            <a:ext cx="556124" cy="2518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校徽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2739656E-1ABC-32CA-E7CA-53A27E89B0A0}"/>
              </a:ext>
            </a:extLst>
          </p:cNvPr>
          <p:cNvSpPr txBox="1">
            <a:spLocks/>
          </p:cNvSpPr>
          <p:nvPr/>
        </p:nvSpPr>
        <p:spPr>
          <a:xfrm>
            <a:off x="7105268" y="801048"/>
            <a:ext cx="784280" cy="2518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英文校名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537DA3F4-5BA7-5AC7-32EE-30BE8BCCC52D}"/>
              </a:ext>
            </a:extLst>
          </p:cNvPr>
          <p:cNvSpPr txBox="1">
            <a:spLocks/>
          </p:cNvSpPr>
          <p:nvPr/>
        </p:nvSpPr>
        <p:spPr>
          <a:xfrm>
            <a:off x="4649501" y="3331017"/>
            <a:ext cx="1446499" cy="2518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系统框图，创新点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A38D778A-8127-2BE9-4B89-367B7254BD64}"/>
              </a:ext>
            </a:extLst>
          </p:cNvPr>
          <p:cNvSpPr txBox="1">
            <a:spLocks/>
          </p:cNvSpPr>
          <p:nvPr/>
        </p:nvSpPr>
        <p:spPr>
          <a:xfrm>
            <a:off x="8876696" y="6144674"/>
            <a:ext cx="1760824" cy="2518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测试结果，性能，展望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6DE1987A-1DD0-53C0-FC04-7F242C3711DE}"/>
              </a:ext>
            </a:extLst>
          </p:cNvPr>
          <p:cNvSpPr txBox="1">
            <a:spLocks/>
          </p:cNvSpPr>
          <p:nvPr/>
        </p:nvSpPr>
        <p:spPr>
          <a:xfrm>
            <a:off x="1096156" y="4674511"/>
            <a:ext cx="1231997" cy="2518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背景，简介摘要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727453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94523dde-f9d1-4aa7-80a9-c0900420d3c3}" enabled="1" method="Privileged" siteId="{3dd8961f-e488-4e60-8e11-a82d994e183d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1225</TotalTime>
  <Words>922</Words>
  <Application>Microsoft Office PowerPoint</Application>
  <PresentationFormat>宽屏</PresentationFormat>
  <Paragraphs>119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</vt:i4>
      </vt:variant>
    </vt:vector>
  </HeadingPairs>
  <TitlesOfParts>
    <vt:vector size="15" baseType="lpstr">
      <vt:lpstr>Calibri </vt:lpstr>
      <vt:lpstr>等线</vt:lpstr>
      <vt:lpstr>微软雅黑</vt:lpstr>
      <vt:lpstr>Aharoni</vt:lpstr>
      <vt:lpstr>Aptos</vt:lpstr>
      <vt:lpstr>Aptos Display</vt:lpstr>
      <vt:lpstr>Arial</vt:lpstr>
      <vt:lpstr>Calibri</vt:lpstr>
      <vt:lpstr>Calibri Light</vt:lpstr>
      <vt:lpstr>Times New Roman</vt:lpstr>
      <vt:lpstr>Wingdings</vt:lpstr>
      <vt:lpstr>Office Theme</vt:lpstr>
      <vt:lpstr>1_Office Theme</vt:lpstr>
      <vt:lpstr>INTRODUCTION</vt:lpstr>
      <vt:lpstr>INTRODUCTION</vt:lpstr>
    </vt:vector>
  </TitlesOfParts>
  <Company>AMD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Chen, Wen (Vicky)</dc:creator>
  <cp:lastModifiedBy>Brandon Lee</cp:lastModifiedBy>
  <cp:revision>12</cp:revision>
  <dcterms:created xsi:type="dcterms:W3CDTF">2024-09-09T08:07:06Z</dcterms:created>
  <dcterms:modified xsi:type="dcterms:W3CDTF">2025-10-24T08:21:14Z</dcterms:modified>
</cp:coreProperties>
</file>