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147472084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1" autoAdjust="0"/>
    <p:restoredTop sz="94660"/>
  </p:normalViewPr>
  <p:slideViewPr>
    <p:cSldViewPr snapToGrid="0">
      <p:cViewPr varScale="1">
        <p:scale>
          <a:sx n="99" d="100"/>
          <a:sy n="99" d="100"/>
        </p:scale>
        <p:origin x="4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1.xml"/><Relationship Id="rId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89A0E-7A92-AC35-9AD7-A7E2C60C18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003A92-84D4-B415-E4F7-62B71276A9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88E3A-CBB1-0D23-F51F-3ABB0B46B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8D6A8-22DA-4CFC-AA61-FFA3C3542D51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63CD00-F9E6-0070-40CA-604523437B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9D7065-F958-764E-CB72-F932802B4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A8970-340F-4734-A5BA-656F77B0B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2573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CA227-CA7A-62B9-0F42-509E8A389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6401F9-FC4E-AC44-092C-88E40E2548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BF3A90-0B3E-0D8B-1973-F80AC9FC2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8D6A8-22DA-4CFC-AA61-FFA3C3542D51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CD3118-502B-6BC7-8E9B-8D26FA49C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4DFFE0-A818-07B7-F2CD-B5BEC264B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A8970-340F-4734-A5BA-656F77B0B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7946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2A271-CC41-21A7-DA9B-221D7EE62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B48E2F-4D3E-22C1-406C-2B8A4C67FB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9DE4E2-69C5-5ED6-AFEB-3B837BF56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8D6A8-22DA-4CFC-AA61-FFA3C3542D51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50CC17-5810-E2B3-FCF1-EE2DED91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7285DC-8DCC-81D4-973F-49BED49C4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A8970-340F-4734-A5BA-656F77B0B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2374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7294F-9D1F-53E2-8D12-8A8659E0E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4365A-7FD7-2002-2823-F76840CAED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E22240-15F8-EFBB-8428-D602613F13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07E0B0-6333-917F-DBA5-B934287838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8D6A8-22DA-4CFC-AA61-FFA3C3542D51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32452B-0A96-ED94-64D3-728DEFE7A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693D1D-393F-F3F2-C1E1-C467C69C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A8970-340F-4734-A5BA-656F77B0B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3352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79553-06E6-86C5-FD5F-45541994C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5B3FEC-E700-8ABD-D1DD-781902AC6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E5BB28-0BDC-F469-2D57-53C984F9D5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5C1997-3E7B-4C33-08BD-D68FE16EB62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06B7E3-81E9-FEB0-4AAF-31A1C509E0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F1C012-B150-7D20-38F2-1695DA393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8D6A8-22DA-4CFC-AA61-FFA3C3542D51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32253B-AD78-BF82-7760-B726071BBE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2D99F7-FF66-EED2-9C82-EFEF8B890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A8970-340F-4734-A5BA-656F77B0B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126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4AE5D-C529-01E0-7DEA-9D828C313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083C94-9710-F2C1-291C-F02721FF1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8D6A8-22DA-4CFC-AA61-FFA3C3542D51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D4010-E545-4227-F5C1-51D8C798C1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D82CBC-57D1-2059-F439-513221C6B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A8970-340F-4734-A5BA-656F77B0B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893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8AD649E-4A02-C9BC-69CA-E7EB083339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8D6A8-22DA-4CFC-AA61-FFA3C3542D51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369B027-8A44-EFB6-9673-EB5C09116A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5B26DA-4F67-427A-6C7D-136DCB423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A8970-340F-4734-A5BA-656F77B0B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420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67B2A-8F1C-8384-463F-C836D6B55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77D2C3-E953-6AC2-19D2-9D11D4596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0A1902-CE0E-C177-EB61-730B380C65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D789AF-DF9D-4C76-ABE8-A0A78B799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8D6A8-22DA-4CFC-AA61-FFA3C3542D51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0C3AD9-D8E2-8A06-A04A-C4A14FA06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9A6D0E-7135-1617-CC84-DE2337D9D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A8970-340F-4734-A5BA-656F77B0B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187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5ED7A-6385-4EF9-AFCC-759506976D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C8EFB52-3868-A747-B07D-78A5817B04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38F87E-FCFA-5030-5210-FF19F52E06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7BA992-C72D-E9C8-2638-E5F9AD4C3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8D6A8-22DA-4CFC-AA61-FFA3C3542D51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37EAF4-5945-01A5-E022-770C2F7DDE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41E50F-1775-EC4A-56CA-61DFA3071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A8970-340F-4734-A5BA-656F77B0B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2460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AF33B-285D-7BAD-608A-8CF466E7D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4D89AB-DCB1-B72D-4C26-34EE41737D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81D562-F9FE-CA7A-6778-020BF7B962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8D6A8-22DA-4CFC-AA61-FFA3C3542D51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A8F762-1C6C-5770-69C3-F6E4DE842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5172FD-E613-861F-CCC8-7E873F3CB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A8970-340F-4734-A5BA-656F77B0B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349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E248615-78CA-1176-749C-DF56A4B8E0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8A9008-8182-3D87-CE58-9BA8B034C2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DFD385-5ED8-865E-459D-7ACE577D3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8D6A8-22DA-4CFC-AA61-FFA3C3542D51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6E302-2613-FF87-CA17-EAE4DF813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7E7D86-8302-062A-5792-8D7E687DB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A8970-340F-4734-A5BA-656F77B0B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6723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44B03-DC5B-1B84-49A1-6E675D3613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04A924-631B-84A5-9C1E-D34F2CBAEE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01F0D6-BBDB-3A19-1671-1C4E306E4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6DE77-F393-425F-B5C6-A733350DBF5B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8AD409-E358-7209-8A86-64C72338D5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586B43-7A98-233A-D8E7-6FF2D658C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0C561-0074-4F63-A55C-330074E932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5820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0BB0D-CAEC-9D1D-0FD6-0489EE7CB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793ED8-C205-BACC-11ED-87A38506E4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58F1B5-9B65-EED6-F0AE-CC0A8E54B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6DE77-F393-425F-B5C6-A733350DBF5B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C67D6D-C04C-4C51-EE41-17A9619509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C7BF9E-6220-6C04-260A-DB563ECF4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0C561-0074-4F63-A55C-330074E932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2353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ADB31-D325-726F-F6E8-9ADEFAE83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8E3823-D42D-4946-0ECA-FA3D7C40E8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72EC95-74A6-7219-5914-C0A3331C6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6DE77-F393-425F-B5C6-A733350DBF5B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829B0B-AD98-EB14-DF87-CB9240A845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4AC9F9-DA37-531C-AABF-F4156CDAF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0C561-0074-4F63-A55C-330074E932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6416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0AC394-A63F-D897-A3D5-64AB9AE93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0FD4A5-3BAC-76A0-A99B-F8BEA168C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C608E3-B61F-4CFA-DC82-02C86529B0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EABC2D-F1B8-A11D-A91C-16E61D9A2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6DE77-F393-425F-B5C6-A733350DBF5B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7B827D-FDB1-B5CE-48A8-06D5D12DF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14E846-7863-A881-DE4E-CBF5B3FB2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0C561-0074-4F63-A55C-330074E932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38285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5F73C-C37A-C387-E9FE-229277FCF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663E90-5699-D8E9-AFAC-4C3B3E63B6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B227E2-7D6D-D7D7-7C15-25235C105D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332BDA-D6B6-D61D-0458-DB4D46DA3A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4E513C-7836-8370-F9D0-A35662D0FE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DB1FAAB-93B6-E0DB-02B7-3245547BFC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6DE77-F393-425F-B5C6-A733350DBF5B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4A5BB6-5F08-CB46-7468-6449C9194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CE2B2CC-D620-3BFA-7E18-D27E803E8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0C561-0074-4F63-A55C-330074E932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1521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18A66-9D39-61B0-A510-B813898F6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1B23D65-8C47-E134-1E66-BCC8E008F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6DE77-F393-425F-B5C6-A733350DBF5B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81518C-5EFE-880C-80ED-F07E1C95B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4784BC-F272-9AA1-9CCC-91F19DE25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0C561-0074-4F63-A55C-330074E932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53614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B62DF6-4682-99B4-2B5F-F473A3E4F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6DE77-F393-425F-B5C6-A733350DBF5B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DC2D65-224E-564F-8DB5-978B05DB8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F842A6-6FF7-B9B8-2F76-DABDA2B8E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0C561-0074-4F63-A55C-330074E932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79375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04D3E-94AA-7EDF-D31C-203E01EA5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FC52F-2B30-69EF-DE3C-1FEB556709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017FB7-EEF0-0833-8A3A-0A008A86EA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5B5008-0C6F-9AE1-009F-D99FBE49FE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6DE77-F393-425F-B5C6-A733350DBF5B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15326D-61C8-3CA0-8C06-BDA2BA208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55A397-456E-3CB2-4ACF-3CB2F0384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0C561-0074-4F63-A55C-330074E932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49153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8DAEF-261E-FA7C-8CED-78230FC3A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7667433-60FF-A86A-2C5B-965642EE37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3E4AD6-4B07-9842-DFB1-2167ED8361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E57E40-B8EE-D80C-6A5D-538E315F2C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6DE77-F393-425F-B5C6-A733350DBF5B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0461B5-45F1-1EEC-78F3-D5C219E1AC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01A95-25E2-F6D7-6DE0-D49255D3B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0C561-0074-4F63-A55C-330074E932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1677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832C3-5ACC-D3D9-8DE6-CFA8FC0D0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A1F238-0A68-0564-12BB-8F6C9ED4A8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EF84D6-24D6-6B8A-1589-2E38A25D92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6DE77-F393-425F-B5C6-A733350DBF5B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684594-421D-06E2-0CF8-00F2439E9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71E1E7-9C96-A3D5-9FD8-F6112D4A5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0C561-0074-4F63-A55C-330074E932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68425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51FC101-CD1D-69FC-2C2D-43A182A6B97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409C2D-EE04-5CC2-7EB2-14DEF31E08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424EA7-F36E-CEBC-C0D1-5039F0615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6DE77-F393-425F-B5C6-A733350DBF5B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323CCC-C2BC-F47C-C266-281B039558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0FA4D0-CE85-74EA-E615-8E7147747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0C561-0074-4F63-A55C-330074E932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79888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2111"/>
            <a:ext cx="11018838" cy="4836927"/>
          </a:xfrm>
        </p:spPr>
        <p:txBody>
          <a:bodyPr/>
          <a:lstStyle>
            <a:lvl1pPr marL="228600" indent="-228600">
              <a:buSzPct val="90000"/>
              <a:buFont typeface="Arial" panose="020B0604020202020204" pitchFamily="34" charset="0"/>
              <a:buChar char="•"/>
              <a:defRPr/>
            </a:lvl1pPr>
            <a:lvl2pPr marL="457200" indent="-228600">
              <a:buSzPct val="90000"/>
              <a:buFont typeface="Arial" panose="020B0604020202020204" pitchFamily="34" charset="0"/>
              <a:buChar char="•"/>
              <a:defRPr/>
            </a:lvl2pPr>
            <a:lvl3pPr marL="657225" indent="-200025">
              <a:buSzPct val="90000"/>
              <a:buFont typeface="Arial" panose="020B0604020202020204" pitchFamily="34" charset="0"/>
              <a:buChar char="•"/>
              <a:defRPr/>
            </a:lvl3pPr>
            <a:lvl4pPr marL="842963" indent="-180975">
              <a:buSzPct val="90000"/>
              <a:buFont typeface="Arial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008400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5" orient="horz" pos="905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2111"/>
            <a:ext cx="11018838" cy="4836927"/>
          </a:xfrm>
        </p:spPr>
        <p:txBody>
          <a:bodyPr/>
          <a:lstStyle>
            <a:lvl1pPr marL="228600" indent="-228600">
              <a:buSzPct val="90000"/>
              <a:buFont typeface="Arial" panose="020B0604020202020204" pitchFamily="34" charset="0"/>
              <a:buChar char="•"/>
              <a:defRPr/>
            </a:lvl1pPr>
            <a:lvl2pPr marL="457200" indent="-228600">
              <a:buSzPct val="90000"/>
              <a:buFont typeface="Arial" panose="020B0604020202020204" pitchFamily="34" charset="0"/>
              <a:buChar char="•"/>
              <a:defRPr/>
            </a:lvl2pPr>
            <a:lvl3pPr marL="657225" indent="-200025">
              <a:buSzPct val="90000"/>
              <a:buFont typeface="Arial" panose="020B0604020202020204" pitchFamily="34" charset="0"/>
              <a:buChar char="•"/>
              <a:defRPr/>
            </a:lvl3pPr>
            <a:lvl4pPr marL="842963" indent="-180975">
              <a:buSzPct val="90000"/>
              <a:buFont typeface="Arial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571435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5" orient="horz" pos="905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2111"/>
            <a:ext cx="11018838" cy="4836927"/>
          </a:xfrm>
        </p:spPr>
        <p:txBody>
          <a:bodyPr/>
          <a:lstStyle>
            <a:lvl1pPr marL="228600" indent="-228600">
              <a:buSzPct val="90000"/>
              <a:buFont typeface="Arial" panose="020B0604020202020204" pitchFamily="34" charset="0"/>
              <a:buChar char="•"/>
              <a:defRPr/>
            </a:lvl1pPr>
            <a:lvl2pPr marL="457200" indent="-228600">
              <a:buSzPct val="90000"/>
              <a:buFont typeface="Arial" panose="020B0604020202020204" pitchFamily="34" charset="0"/>
              <a:buChar char="•"/>
              <a:defRPr/>
            </a:lvl2pPr>
            <a:lvl3pPr marL="657225" indent="-200025">
              <a:buSzPct val="90000"/>
              <a:buFont typeface="Arial" panose="020B0604020202020204" pitchFamily="34" charset="0"/>
              <a:buChar char="•"/>
              <a:defRPr/>
            </a:lvl3pPr>
            <a:lvl4pPr marL="842963" indent="-180975">
              <a:buSzPct val="90000"/>
              <a:buFont typeface="Arial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91617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5" orient="horz" pos="905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2111"/>
            <a:ext cx="11018838" cy="4836927"/>
          </a:xfrm>
        </p:spPr>
        <p:txBody>
          <a:bodyPr/>
          <a:lstStyle>
            <a:lvl1pPr marL="228600" indent="-228600">
              <a:buSzPct val="90000"/>
              <a:buFont typeface="Arial" panose="020B0604020202020204" pitchFamily="34" charset="0"/>
              <a:buChar char="•"/>
              <a:defRPr/>
            </a:lvl1pPr>
            <a:lvl2pPr marL="457200" indent="-228600">
              <a:buSzPct val="90000"/>
              <a:buFont typeface="Arial" panose="020B0604020202020204" pitchFamily="34" charset="0"/>
              <a:buChar char="•"/>
              <a:defRPr/>
            </a:lvl2pPr>
            <a:lvl3pPr marL="657225" indent="-200025">
              <a:buSzPct val="90000"/>
              <a:buFont typeface="Arial" panose="020B0604020202020204" pitchFamily="34" charset="0"/>
              <a:buChar char="•"/>
              <a:defRPr/>
            </a:lvl3pPr>
            <a:lvl4pPr marL="842963" indent="-180975">
              <a:buSzPct val="90000"/>
              <a:buFont typeface="Arial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455768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5" orient="horz" pos="905">
          <p15:clr>
            <a:srgbClr val="5ACBF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2111"/>
            <a:ext cx="11018838" cy="4836927"/>
          </a:xfrm>
        </p:spPr>
        <p:txBody>
          <a:bodyPr/>
          <a:lstStyle>
            <a:lvl1pPr marL="228600" indent="-228600">
              <a:buSzPct val="90000"/>
              <a:buFont typeface="Arial" panose="020B0604020202020204" pitchFamily="34" charset="0"/>
              <a:buChar char="•"/>
              <a:defRPr/>
            </a:lvl1pPr>
            <a:lvl2pPr marL="457200" indent="-228600">
              <a:buSzPct val="90000"/>
              <a:buFont typeface="Arial" panose="020B0604020202020204" pitchFamily="34" charset="0"/>
              <a:buChar char="•"/>
              <a:defRPr/>
            </a:lvl2pPr>
            <a:lvl3pPr marL="657225" indent="-200025">
              <a:buSzPct val="90000"/>
              <a:buFont typeface="Arial" panose="020B0604020202020204" pitchFamily="34" charset="0"/>
              <a:buChar char="•"/>
              <a:defRPr/>
            </a:lvl3pPr>
            <a:lvl4pPr marL="842963" indent="-180975">
              <a:buSzPct val="90000"/>
              <a:buFont typeface="Arial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39705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5" orient="horz" pos="905">
          <p15:clr>
            <a:srgbClr val="5ACBF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2111"/>
            <a:ext cx="11018838" cy="4836927"/>
          </a:xfrm>
        </p:spPr>
        <p:txBody>
          <a:bodyPr/>
          <a:lstStyle>
            <a:lvl1pPr marL="228600" indent="-228600">
              <a:buSzPct val="90000"/>
              <a:buFont typeface="Arial" panose="020B0604020202020204" pitchFamily="34" charset="0"/>
              <a:buChar char="•"/>
              <a:defRPr/>
            </a:lvl1pPr>
            <a:lvl2pPr marL="457200" indent="-228600">
              <a:buSzPct val="90000"/>
              <a:buFont typeface="Arial" panose="020B0604020202020204" pitchFamily="34" charset="0"/>
              <a:buChar char="•"/>
              <a:defRPr/>
            </a:lvl2pPr>
            <a:lvl3pPr marL="657225" indent="-200025">
              <a:buSzPct val="90000"/>
              <a:buFont typeface="Arial" panose="020B0604020202020204" pitchFamily="34" charset="0"/>
              <a:buChar char="•"/>
              <a:defRPr/>
            </a:lvl3pPr>
            <a:lvl4pPr marL="842963" indent="-180975">
              <a:buSzPct val="90000"/>
              <a:buFont typeface="Arial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484294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5" orient="horz" pos="905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2111"/>
            <a:ext cx="11018838" cy="4836927"/>
          </a:xfrm>
        </p:spPr>
        <p:txBody>
          <a:bodyPr/>
          <a:lstStyle>
            <a:lvl1pPr marL="228600" indent="-228600">
              <a:buSzPct val="90000"/>
              <a:buFont typeface="Arial" panose="020B0604020202020204" pitchFamily="34" charset="0"/>
              <a:buChar char="•"/>
              <a:defRPr/>
            </a:lvl1pPr>
            <a:lvl2pPr marL="457200" indent="-228600">
              <a:buSzPct val="90000"/>
              <a:buFont typeface="Arial" panose="020B0604020202020204" pitchFamily="34" charset="0"/>
              <a:buChar char="•"/>
              <a:defRPr/>
            </a:lvl2pPr>
            <a:lvl3pPr marL="657225" indent="-200025">
              <a:buSzPct val="90000"/>
              <a:buFont typeface="Arial" panose="020B0604020202020204" pitchFamily="34" charset="0"/>
              <a:buChar char="•"/>
              <a:defRPr/>
            </a:lvl3pPr>
            <a:lvl4pPr marL="842963" indent="-180975">
              <a:buSzPct val="90000"/>
              <a:buFont typeface="Arial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73470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5" orient="horz" pos="905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2111"/>
            <a:ext cx="11018838" cy="4836927"/>
          </a:xfrm>
        </p:spPr>
        <p:txBody>
          <a:bodyPr/>
          <a:lstStyle>
            <a:lvl1pPr marL="228600" indent="-228600">
              <a:buSzPct val="90000"/>
              <a:buFont typeface="Arial" panose="020B0604020202020204" pitchFamily="34" charset="0"/>
              <a:buChar char="•"/>
              <a:defRPr/>
            </a:lvl1pPr>
            <a:lvl2pPr marL="457200" indent="-228600">
              <a:buSzPct val="90000"/>
              <a:buFont typeface="Arial" panose="020B0604020202020204" pitchFamily="34" charset="0"/>
              <a:buChar char="•"/>
              <a:defRPr/>
            </a:lvl2pPr>
            <a:lvl3pPr marL="657225" indent="-200025">
              <a:buSzPct val="90000"/>
              <a:buFont typeface="Arial" panose="020B0604020202020204" pitchFamily="34" charset="0"/>
              <a:buChar char="•"/>
              <a:defRPr/>
            </a:lvl3pPr>
            <a:lvl4pPr marL="842963" indent="-180975">
              <a:buSzPct val="90000"/>
              <a:buFont typeface="Arial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847776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5" orient="horz" pos="905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theme" Target="../theme/theme2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3A4FCE-3A35-AF12-4EB0-4812C9C9A1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130EB9-DBF9-CE4C-6E87-923D7F107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735641-CC9D-0FAE-4CCF-1941356C83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98D6A8-22DA-4CFC-AA61-FFA3C3542D51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6A60CF-92FF-D6AC-109D-1E0DD83D8A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0307A6-9670-B2D9-E134-C3BD292CFF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0A8970-340F-4734-A5BA-656F77B0B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231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49E8DB-A4AB-B75C-4ED1-9BACD1E58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C2F329-27F8-C1C6-497E-4A373AAE8F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9B96BC-9033-211E-EFCF-785F333CF7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96DE77-F393-425F-B5C6-A733350DBF5B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F1C422-BDF8-5159-B23E-BDA02511B5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F668BD-72D7-7458-1C89-EC06D57757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30C561-0074-4F63-A55C-330074E9321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22808A-EBBE-68AC-3DD8-241E700B91FA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190500" y="190500"/>
            <a:ext cx="4492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[Public]</a:t>
            </a:r>
          </a:p>
        </p:txBody>
      </p:sp>
    </p:spTree>
    <p:extLst>
      <p:ext uri="{BB962C8B-B14F-4D97-AF65-F5344CB8AC3E}">
        <p14:creationId xmlns:p14="http://schemas.microsoft.com/office/powerpoint/2010/main" val="22405758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.xml"/><Relationship Id="rId6" Type="http://schemas.openxmlformats.org/officeDocument/2006/relationships/image" Target="../media/image4.emf"/><Relationship Id="rId5" Type="http://schemas.openxmlformats.org/officeDocument/2006/relationships/image" Target="../media/image3.emf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7B9918D3-E7A9-00E4-6846-A5D771229412}"/>
              </a:ext>
            </a:extLst>
          </p:cNvPr>
          <p:cNvSpPr txBox="1">
            <a:spLocks/>
          </p:cNvSpPr>
          <p:nvPr/>
        </p:nvSpPr>
        <p:spPr>
          <a:xfrm>
            <a:off x="179805" y="1777776"/>
            <a:ext cx="3778396" cy="46007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Radio telescopes use wireless radio reception, measurement, and analysis of celestial radio signals to explore the radio window of celestial bodies after the optical window.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 typical radio telescope system consists of 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an antenna system, a receiver analog front-end system, a data processing and recording system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 Most of the current receiver systems have the capability of accumulate integration, FFT transformation, and correlation calculation, but cannot retain the raw data of the radio signals, Lost a lot of temporal information.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Key technical issues addressed: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1. Signal acquisition, High-performance ADC (Analog-to-Digital Converter) device.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2. Data receiving and processing, AMD-Xilinx 7 series Zynq System on a Chip (SoC) devices.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3. Data transmitting, SERDES (Serializer/</a:t>
            </a:r>
            <a:r>
              <a:rPr kumimoji="0" 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Deserializer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Interface with GTX for 10G </a:t>
            </a:r>
            <a:r>
              <a:rPr kumimoji="0" 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linerate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4. Data storing, Dedicated server with disk array and RNIC support.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2972" y="1093081"/>
            <a:ext cx="2795337" cy="465054"/>
          </a:xfrm>
          <a:solidFill>
            <a:srgbClr val="2F2F2F"/>
          </a:solidFill>
        </p:spPr>
        <p:txBody>
          <a:bodyPr>
            <a:normAutofit/>
          </a:bodyPr>
          <a:lstStyle/>
          <a:p>
            <a:pPr algn="ctr"/>
            <a:r>
              <a:rPr lang="en-US" sz="1800" b="1" dirty="0">
                <a:solidFill>
                  <a:schemeClr val="bg1"/>
                </a:solidFill>
                <a:latin typeface="Aharoni" panose="020F0502020204030204" pitchFamily="34" charset="0"/>
                <a:cs typeface="Aharoni" panose="020F0502020204030204" pitchFamily="34" charset="0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885" y="259715"/>
            <a:ext cx="67894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  <a:sym typeface="+mn-ea"/>
              </a:rPr>
              <a:t>Title 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  <a:sym typeface="+mn-ea"/>
              </a:rPr>
              <a:t>Font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Times New Roman Size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24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1" name="Title 1"/>
          <p:cNvSpPr txBox="1"/>
          <p:nvPr/>
        </p:nvSpPr>
        <p:spPr>
          <a:xfrm>
            <a:off x="7733160" y="2090674"/>
            <a:ext cx="411468" cy="3188991"/>
          </a:xfrm>
          <a:prstGeom prst="rect">
            <a:avLst/>
          </a:prstGeom>
          <a:solidFill>
            <a:srgbClr val="2F2F2F"/>
          </a:solidFill>
        </p:spPr>
        <p:txBody>
          <a:bodyPr vert="wordArtVert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j-ea"/>
              <a:cs typeface="+mj-cs"/>
            </a:endParaRPr>
          </a:p>
        </p:txBody>
      </p:sp>
      <p:sp>
        <p:nvSpPr>
          <p:cNvPr id="44" name="文本框 4"/>
          <p:cNvSpPr txBox="1"/>
          <p:nvPr/>
        </p:nvSpPr>
        <p:spPr>
          <a:xfrm>
            <a:off x="974840" y="3302281"/>
            <a:ext cx="1882140" cy="2444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Typical application case</a:t>
            </a:r>
          </a:p>
        </p:txBody>
      </p:sp>
      <p:cxnSp>
        <p:nvCxnSpPr>
          <p:cNvPr id="48" name="Straight Connector 47"/>
          <p:cNvCxnSpPr/>
          <p:nvPr/>
        </p:nvCxnSpPr>
        <p:spPr>
          <a:xfrm>
            <a:off x="6096000" y="259496"/>
            <a:ext cx="2213128" cy="165852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flipV="1">
            <a:off x="8309128" y="1905826"/>
            <a:ext cx="3659900" cy="11458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>
            <a:off x="8309128" y="1918018"/>
            <a:ext cx="0" cy="4622357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8986520" y="2263140"/>
            <a:ext cx="3094990" cy="908113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The completed work has verified the architecture of using a high-performance ADC (Analog-to-Digital Converter) to acquire multiple beams from a radio reception antenna.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charset="0"/>
              <a:ea typeface="等线" panose="02010600030101010101" pitchFamily="2" charset="-122"/>
              <a:cs typeface="Calibri" panose="020F05020202040302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The system is composed of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 independent components, with a flexible and highly scalable architecture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. It is based on FPGA's logic programmability and 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serdes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 technology support, which enables it to meet higher performance requirements.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charset="0"/>
              <a:ea typeface="等线" panose="02010600030101010101" pitchFamily="2" charset="-122"/>
              <a:cs typeface="Calibri" panose="020F05020202040302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charset="0"/>
              <a:ea typeface="+mn-ea"/>
              <a:cs typeface="Calibri" panose="020F0502020204030204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7811791" y="393657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811791" y="413140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811791" y="4333639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11791" y="4528458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I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11791" y="4714497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811791" y="491033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G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796923" y="2081612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C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811791" y="227643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811791" y="2478675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811791" y="267349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811791" y="285953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811791" y="3055369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I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811791" y="323985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V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811791" y="344075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96" name="文本框 4"/>
          <p:cNvSpPr txBox="1"/>
          <p:nvPr/>
        </p:nvSpPr>
        <p:spPr>
          <a:xfrm>
            <a:off x="10035854" y="1607120"/>
            <a:ext cx="2238705" cy="2208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0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On board test by AMD ZYNQ7000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088456" y="504037"/>
            <a:ext cx="43343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00" cap="none" spc="0" normalizeH="0" baseline="0" noProof="0" dirty="0">
                <a:ln>
                  <a:noFill/>
                </a:ln>
                <a:solidFill>
                  <a:srgbClr val="242021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OpenHW2025</a:t>
            </a:r>
            <a:endParaRPr kumimoji="0" lang="en-US" sz="2000" b="1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4" name="Title 1"/>
          <p:cNvSpPr txBox="1"/>
          <p:nvPr/>
        </p:nvSpPr>
        <p:spPr>
          <a:xfrm>
            <a:off x="8507018" y="2052136"/>
            <a:ext cx="377933" cy="1678530"/>
          </a:xfrm>
          <a:prstGeom prst="rect">
            <a:avLst/>
          </a:prstGeom>
          <a:solidFill>
            <a:srgbClr val="2F2F2F"/>
          </a:solidFill>
        </p:spPr>
        <p:txBody>
          <a:bodyPr vert="wordArtVert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j-ea"/>
              <a:cs typeface="+mj-cs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8555488" y="220050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555488" y="238957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55488" y="259241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555488" y="281074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U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555488" y="3017161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L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555488" y="321837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T</a:t>
            </a:r>
          </a:p>
        </p:txBody>
      </p:sp>
      <p:pic>
        <p:nvPicPr>
          <p:cNvPr id="7" name="Picture 6" descr="A black background with a black square&#10;&#10;Description automatically generated with medium confidenc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9288" y="721064"/>
            <a:ext cx="2111325" cy="118762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8544560" y="4236085"/>
            <a:ext cx="3557270" cy="21424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SFP+ interface is driven directly by GTX, can be programmed by users to support various communication protocols. This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 high degree of programmability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 ensures maximum compatibility with both existing and future communication devices, thereby reducing the cost of device deployment and iterative updates.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charset="0"/>
              <a:ea typeface="等线" panose="02010600030101010101" pitchFamily="2" charset="-122"/>
              <a:cs typeface="Calibri" panose="020F050202020403020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Raw data storage requires a significant amount of storage bandwidth. 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The limitations 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charset="0"/>
                <a:ea typeface="等线" panose="02010600030101010101" pitchFamily="2" charset="-122"/>
                <a:cs typeface="Calibri" panose="020F0502020204030204" charset="0"/>
                <a:sym typeface="+mn-ea"/>
              </a:rPr>
              <a:t>of current storage devices necessitate the need to build disk arrays that can support high-bandwidth data storage. </a:t>
            </a:r>
          </a:p>
        </p:txBody>
      </p:sp>
      <p:pic>
        <p:nvPicPr>
          <p:cNvPr id="8" name="图片 7" descr="introduce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290" y="2451206"/>
            <a:ext cx="3317240" cy="761365"/>
          </a:xfrm>
          <a:prstGeom prst="rect">
            <a:avLst/>
          </a:prstGeom>
        </p:spPr>
      </p:pic>
      <p:sp>
        <p:nvSpPr>
          <p:cNvPr id="14" name="文本框 4"/>
          <p:cNvSpPr txBox="1"/>
          <p:nvPr>
            <p:custDataLst>
              <p:tags r:id="rId1"/>
            </p:custDataLst>
          </p:nvPr>
        </p:nvSpPr>
        <p:spPr>
          <a:xfrm>
            <a:off x="4383482" y="3544112"/>
            <a:ext cx="2695575" cy="2444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System Architecture</a:t>
            </a:r>
          </a:p>
        </p:txBody>
      </p:sp>
      <p:pic>
        <p:nvPicPr>
          <p:cNvPr id="10" name="图片 2">
            <a:extLst>
              <a:ext uri="{FF2B5EF4-FFF2-40B4-BE49-F238E27FC236}">
                <a16:creationId xmlns:a16="http://schemas.microsoft.com/office/drawing/2014/main" id="{E5277B45-CC04-B3E9-8F3B-6EAE9CA17F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6092" y="1164767"/>
            <a:ext cx="3064081" cy="2194033"/>
          </a:xfrm>
          <a:prstGeom prst="rect">
            <a:avLst/>
          </a:prstGeom>
        </p:spPr>
      </p:pic>
      <p:sp>
        <p:nvSpPr>
          <p:cNvPr id="24" name="矩形: 圆角 10">
            <a:extLst>
              <a:ext uri="{FF2B5EF4-FFF2-40B4-BE49-F238E27FC236}">
                <a16:creationId xmlns:a16="http://schemas.microsoft.com/office/drawing/2014/main" id="{4137E1DC-4316-A8F5-0110-E72BC587D46B}"/>
              </a:ext>
            </a:extLst>
          </p:cNvPr>
          <p:cNvSpPr/>
          <p:nvPr/>
        </p:nvSpPr>
        <p:spPr>
          <a:xfrm>
            <a:off x="4209513" y="5567296"/>
            <a:ext cx="3288217" cy="101202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High-speed Acquisition Card:</a:t>
            </a:r>
          </a:p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1. Sampling and Quantization of Analog Signals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;</a:t>
            </a:r>
          </a:p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2. Receiving and Handling data from ADC;</a:t>
            </a:r>
          </a:p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3. Transporting data to next work platform;</a:t>
            </a:r>
          </a:p>
        </p:txBody>
      </p:sp>
      <p:sp>
        <p:nvSpPr>
          <p:cNvPr id="25" name="矩形: 圆角 11">
            <a:extLst>
              <a:ext uri="{FF2B5EF4-FFF2-40B4-BE49-F238E27FC236}">
                <a16:creationId xmlns:a16="http://schemas.microsoft.com/office/drawing/2014/main" id="{87DCDF71-0F6F-31F2-E734-5BDD6F2EA8FF}"/>
              </a:ext>
            </a:extLst>
          </p:cNvPr>
          <p:cNvSpPr/>
          <p:nvPr/>
        </p:nvSpPr>
        <p:spPr>
          <a:xfrm>
            <a:off x="4223004" y="3859322"/>
            <a:ext cx="3274725" cy="156650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Optical Communication Receiver Card:</a:t>
            </a:r>
          </a:p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1. Communicating with the acquisition card;</a:t>
            </a:r>
          </a:p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2. Receiving and Handling data from SFP+ with protocol such as Ethernet, Aurora and so on;</a:t>
            </a:r>
          </a:p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3. Acting as an assistant to speed up the data processing workflow;</a:t>
            </a:r>
          </a:p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4. Collaborating with the server for data uplink and downlink;</a:t>
            </a:r>
          </a:p>
        </p:txBody>
      </p:sp>
      <p:pic>
        <p:nvPicPr>
          <p:cNvPr id="27" name="图片 5">
            <a:extLst>
              <a:ext uri="{FF2B5EF4-FFF2-40B4-BE49-F238E27FC236}">
                <a16:creationId xmlns:a16="http://schemas.microsoft.com/office/drawing/2014/main" id="{7DE7C564-845A-8C81-D0BA-16A0FFCA07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7179" y="78822"/>
            <a:ext cx="1604915" cy="1402913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117697-36BD-9FA7-05A9-312CE83A7ACD}"/>
              </a:ext>
            </a:extLst>
          </p:cNvPr>
          <p:cNvSpPr txBox="1">
            <a:spLocks/>
          </p:cNvSpPr>
          <p:nvPr/>
        </p:nvSpPr>
        <p:spPr>
          <a:xfrm>
            <a:off x="1036793" y="1576933"/>
            <a:ext cx="2221767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Font: Calibri(Body) Size:11  Size:11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CF566C-B6D6-7A1B-8D6E-25424A8F8B15}"/>
              </a:ext>
            </a:extLst>
          </p:cNvPr>
          <p:cNvSpPr txBox="1">
            <a:spLocks/>
          </p:cNvSpPr>
          <p:nvPr/>
        </p:nvSpPr>
        <p:spPr>
          <a:xfrm>
            <a:off x="7037169" y="-1643"/>
            <a:ext cx="3436277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Team Member Names Font: 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Times New Roman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 Size:12 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8ED001-AD53-95D6-9621-8BDEB2523D62}"/>
              </a:ext>
            </a:extLst>
          </p:cNvPr>
          <p:cNvSpPr txBox="1">
            <a:spLocks/>
          </p:cNvSpPr>
          <p:nvPr/>
        </p:nvSpPr>
        <p:spPr>
          <a:xfrm>
            <a:off x="10360536" y="1393972"/>
            <a:ext cx="1313365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作品实物缩略图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8DDF753-2B35-BDDC-7305-343252EE65AF}"/>
              </a:ext>
            </a:extLst>
          </p:cNvPr>
          <p:cNvSpPr txBox="1">
            <a:spLocks/>
          </p:cNvSpPr>
          <p:nvPr/>
        </p:nvSpPr>
        <p:spPr>
          <a:xfrm>
            <a:off x="10272665" y="1903396"/>
            <a:ext cx="1829165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作品测试平台信息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37DA3F4-5BA7-5AC7-32EE-30BE8BCCC52D}"/>
              </a:ext>
            </a:extLst>
          </p:cNvPr>
          <p:cNvSpPr txBox="1">
            <a:spLocks/>
          </p:cNvSpPr>
          <p:nvPr/>
        </p:nvSpPr>
        <p:spPr>
          <a:xfrm>
            <a:off x="4649501" y="3331017"/>
            <a:ext cx="1446499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系统框图，创新点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A38D778A-8127-2BE9-4B89-367B7254BD64}"/>
              </a:ext>
            </a:extLst>
          </p:cNvPr>
          <p:cNvSpPr txBox="1">
            <a:spLocks/>
          </p:cNvSpPr>
          <p:nvPr/>
        </p:nvSpPr>
        <p:spPr>
          <a:xfrm>
            <a:off x="8876696" y="6144674"/>
            <a:ext cx="1760824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测试结果，性能，展望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6DE1987A-1DD0-53C0-FC04-7F242C3711DE}"/>
              </a:ext>
            </a:extLst>
          </p:cNvPr>
          <p:cNvSpPr txBox="1">
            <a:spLocks/>
          </p:cNvSpPr>
          <p:nvPr/>
        </p:nvSpPr>
        <p:spPr>
          <a:xfrm>
            <a:off x="1096156" y="4674511"/>
            <a:ext cx="1231997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背景，简介摘要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72745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94523dde-f9d1-4aa7-80a9-c0900420d3c3}" enabled="1" method="Privileged" siteId="{3dd8961f-e488-4e60-8e11-a82d994e183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480</Words>
  <Application>Microsoft Office PowerPoint</Application>
  <PresentationFormat>宽屏</PresentationFormat>
  <Paragraphs>59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</vt:i4>
      </vt:variant>
    </vt:vector>
  </HeadingPairs>
  <TitlesOfParts>
    <vt:vector size="11" baseType="lpstr">
      <vt:lpstr>微软雅黑</vt:lpstr>
      <vt:lpstr>Aharoni</vt:lpstr>
      <vt:lpstr>Aptos</vt:lpstr>
      <vt:lpstr>Aptos Display</vt:lpstr>
      <vt:lpstr>Arial</vt:lpstr>
      <vt:lpstr>Calibri</vt:lpstr>
      <vt:lpstr>Calibri Light</vt:lpstr>
      <vt:lpstr>Times New Roman</vt:lpstr>
      <vt:lpstr>Office Theme</vt:lpstr>
      <vt:lpstr>1_Office Theme</vt:lpstr>
      <vt:lpstr>INTRODUCTION</vt:lpstr>
    </vt:vector>
  </TitlesOfParts>
  <Company>AMD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Chen, Wen (Vicky)</dc:creator>
  <cp:lastModifiedBy>Brandon Lee</cp:lastModifiedBy>
  <cp:revision>8</cp:revision>
  <dcterms:created xsi:type="dcterms:W3CDTF">2024-09-09T08:07:06Z</dcterms:created>
  <dcterms:modified xsi:type="dcterms:W3CDTF">2025-10-24T07:38:14Z</dcterms:modified>
</cp:coreProperties>
</file>