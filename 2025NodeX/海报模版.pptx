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147472084" r:id="rId3"/>
    <p:sldId id="214747208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99" d="100"/>
          <a:sy n="99" d="100"/>
        </p:scale>
        <p:origin x="52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990D6-08C6-4FC7-BBD6-AFFCA1688072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6B608-C53F-40AA-9842-776B0B96C4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16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C008C-68C3-4508-B7CA-EAB1E612D75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89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9A0E-7A92-AC35-9AD7-A7E2C60C1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03A92-84D4-B415-E4F7-62B71276A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88E3A-CBB1-0D23-F51F-3ABB0B46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3CD00-F9E6-0070-40CA-60452343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D7065-F958-764E-CB72-F932802B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5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A227-CA7A-62B9-0F42-509E8A38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01F9-FC4E-AC44-092C-88E40E25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3A90-0B3E-0D8B-1973-F80AC9FC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D3118-502B-6BC7-8E9B-8D26FA49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FFE0-A818-07B7-F2CD-B5BEC26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9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A271-CC41-21A7-DA9B-221D7EE6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48E2F-4D3E-22C1-406C-2B8A4C67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E4E2-69C5-5ED6-AFEB-3B837BF5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0CC17-5810-E2B3-FCF1-EE2DED91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285DC-8DCC-81D4-973F-49BED49C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294F-9D1F-53E2-8D12-8A8659E0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365A-7FD7-2002-2823-F76840CAE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22240-15F8-EFBB-8428-D602613F1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7E0B0-6333-917F-DBA5-B9342878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2452B-0A96-ED94-64D3-728DEFE7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93D1D-393F-F3F2-C1E1-C467C69C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3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9553-06E6-86C5-FD5F-45541994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B3FEC-E700-8ABD-D1DD-781902AC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5BB28-0BDC-F469-2D57-53C984F9D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C1997-3E7B-4C33-08BD-D68FE16EB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6B7E3-81E9-FEB0-4AAF-31A1C509E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1C012-B150-7D20-38F2-1695DA39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32253B-AD78-BF82-7760-B726071B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D99F7-FF66-EED2-9C82-EFEF8B89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AE5D-C529-01E0-7DEA-9D828C31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83C94-9710-F2C1-291C-F02721FF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D4010-E545-4227-F5C1-51D8C798C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82CBC-57D1-2059-F439-513221C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D649E-4A02-C9BC-69CA-E7EB0833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9B027-8A44-EFB6-9673-EB5C0911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B26DA-4F67-427A-6C7D-136DCB42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7B2A-8F1C-8384-463F-C836D6B5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D2C3-E953-6AC2-19D2-9D11D4596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A1902-CE0E-C177-EB61-730B380C6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789AF-DF9D-4C76-ABE8-A0A78B79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C3AD9-D8E2-8A06-A04A-C4A14FA0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A6D0E-7135-1617-CC84-DE2337D9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ED7A-6385-4EF9-AFCC-75950697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EFB52-3868-A747-B07D-78A5817B0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8F87E-FCFA-5030-5210-FF19F52E0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BA992-C72D-E9C8-2638-E5F9AD4C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7EAF4-5945-01A5-E022-770C2F7D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1E50F-1775-EC4A-56CA-61DFA307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6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F33B-285D-7BAD-608A-8CF466E7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D89AB-DCB1-B72D-4C26-34EE41737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D562-F9FE-CA7A-6778-020BF7B9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8F762-1C6C-5770-69C3-F6E4DE84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172FD-E613-861F-CCC8-7E873F3C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4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48615-78CA-1176-749C-DF56A4B8E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A9008-8182-3D87-CE58-9BA8B034C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D385-5ED8-865E-459D-7ACE577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6E302-2613-FF87-CA17-EAE4DF81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7D86-8302-062A-5792-8D7E687D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72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4B03-DC5B-1B84-49A1-6E675D361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4A924-631B-84A5-9C1E-D34F2CBAE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F0D6-BBDB-3A19-1671-1C4E306E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D409-E358-7209-8A86-64C72338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6B43-7A98-233A-D8E7-6FF2D658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8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BB0D-CAEC-9D1D-0FD6-0489EE7C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3ED8-C205-BACC-11ED-87A38506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8F1B5-9B65-EED6-F0AE-CC0A8E54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7D6D-C04C-4C51-EE41-17A96195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7BF9E-6220-6C04-260A-DB563ECF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35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DB31-D325-726F-F6E8-9ADEFAE8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E3823-D42D-4946-0ECA-FA3D7C40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EC95-74A6-7219-5914-C0A3331C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29B0B-AD98-EB14-DF87-CB9240A8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AC9F9-DA37-531C-AABF-F4156CDA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1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C394-A63F-D897-A3D5-64AB9AE9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FD4A5-3BAC-76A0-A99B-F8BEA168C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608E3-B61F-4CFA-DC82-02C86529B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ABC2D-F1B8-A11D-A91C-16E61D9A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B827D-FDB1-B5CE-48A8-06D5D12D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4E846-7863-A881-DE4E-CBF5B3FB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82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F73C-C37A-C387-E9FE-229277FC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63E90-5699-D8E9-AFAC-4C3B3E63B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227E2-7D6D-D7D7-7C15-25235C105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32BDA-D6B6-D61D-0458-DB4D46DA3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E513C-7836-8370-F9D0-A35662D0F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1FAAB-93B6-E0DB-02B7-3245547B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A5BB6-5F08-CB46-7468-6449C919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2B2CC-D620-3BFA-7E18-D27E803E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52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8A66-9D39-61B0-A510-B813898F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23D65-8C47-E134-1E66-BCC8E008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1518C-5EFE-880C-80ED-F07E1C95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784BC-F272-9AA1-9CCC-91F19DE2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3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62DF6-4682-99B4-2B5F-F473A3E4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C2D65-224E-564F-8DB5-978B05DB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842A6-6FF7-B9B8-2F76-DABDA2B8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93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4D3E-94AA-7EDF-D31C-203E01EA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C52F-2B30-69EF-DE3C-1FEB5567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17FB7-EEF0-0833-8A3A-0A008A86E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B5008-0C6F-9AE1-009F-D99FBE49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5326D-61C8-3CA0-8C06-BDA2BA20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5A397-456E-3CB2-4ACF-3CB2F038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9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DAEF-261E-FA7C-8CED-78230FC3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67433-60FF-A86A-2C5B-965642EE3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E4AD6-4B07-9842-DFB1-2167ED836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7E40-B8EE-D80C-6A5D-538E315F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461B5-45F1-1EEC-78F3-D5C219E1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01A95-25E2-F6D7-6DE0-D49255D3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67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32C3-5ACC-D3D9-8DE6-CFA8FC0D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1F238-0A68-0564-12BB-8F6C9ED4A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F84D6-24D6-6B8A-1589-2E38A25D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4594-421D-06E2-0CF8-00F2439E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E1E7-9C96-A3D5-9FD8-F6112D4A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842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FC101-CD1D-69FC-2C2D-43A182A6B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09C2D-EE04-5CC2-7EB2-14DEF31E0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4EA7-F36E-CEBC-C0D1-5039F061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3CCC-C2BC-F47C-C266-281B0395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A4D0-CE85-74EA-E615-8E714774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98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08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714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161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57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97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842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347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7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A4FCE-3A35-AF12-4EB0-4812C9C9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30EB9-DBF9-CE4C-6E87-923D7F107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35641-CC9D-0FAE-4CCF-1941356C8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A60CF-92FF-D6AC-109D-1E0DD83D8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07A6-9670-B2D9-E134-C3BD292CF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3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9E8DB-A4AB-B75C-4ED1-9BACD1E5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2F329-27F8-C1C6-497E-4A373AAE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96BC-9033-211E-EFCF-785F333CF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C422-BDF8-5159-B23E-BDA02511B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68BD-72D7-7458-1C89-EC06D577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2808A-EBBE-68AC-3DD8-241E700B91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[Public]</a:t>
            </a:r>
          </a:p>
        </p:txBody>
      </p:sp>
    </p:spTree>
    <p:extLst>
      <p:ext uri="{BB962C8B-B14F-4D97-AF65-F5344CB8AC3E}">
        <p14:creationId xmlns:p14="http://schemas.microsoft.com/office/powerpoint/2010/main" val="224057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1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B9918D3-E7A9-00E4-6846-A5D771229412}"/>
              </a:ext>
            </a:extLst>
          </p:cNvPr>
          <p:cNvSpPr txBox="1">
            <a:spLocks/>
          </p:cNvSpPr>
          <p:nvPr/>
        </p:nvSpPr>
        <p:spPr>
          <a:xfrm>
            <a:off x="179805" y="1777776"/>
            <a:ext cx="3778396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Radio telescopes use wireless radio reception, measurement, and analysis of celestial radio signals to explore the radio window of celestial bodies after the optical window.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typical radio telescope system consists of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antenna system, a receiver analog front-end system, a data processing and recording system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Most of the current receiver systems have the capability of accumulate integration, FFT transformation, and correlation calculation, but cannot retain the raw data of the radio signals, Lost a lot of temporal information.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Signal acquisition, High-performance ADC (Analog-to-Digital Converter) device.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Data receiving and processing, AMD-Xilinx 7 series Zynq System on a Chip (SoC) devices.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Data transmitting, SERDES (Serializer/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Deserializer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Interface with GTX for 10G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linerate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Data storing, Dedicated server with disk array and RNIC support.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72" y="1093081"/>
            <a:ext cx="2795337" cy="465054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885" y="259715"/>
            <a:ext cx="6789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Title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Font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 Size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24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44" name="文本框 4"/>
          <p:cNvSpPr txBox="1"/>
          <p:nvPr/>
        </p:nvSpPr>
        <p:spPr>
          <a:xfrm>
            <a:off x="974840" y="3302281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6096000" y="259496"/>
            <a:ext cx="2213128" cy="16585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8309128" y="1905826"/>
            <a:ext cx="3659900" cy="114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309128" y="1918018"/>
            <a:ext cx="0" cy="46223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986520" y="2263140"/>
            <a:ext cx="3094990" cy="9081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completed work has verified the architecture of using a high-performance ADC (Analog-to-Digital Converter) to acquire multiple beams from a radio reception antenna.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system is composed of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independent components, with a flexible and highly scalable architecture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. It is based on FPGA's logic programmability and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serdes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technology support, which enables it to meet higher performance requirements.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96" name="文本框 4"/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AMD ZYNQ7000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88456" y="504037"/>
            <a:ext cx="43343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OpenHW2025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Title 1"/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7" name="Picture 6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288" y="721064"/>
            <a:ext cx="2111325" cy="11876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44560" y="4236085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SFP+ interface is driven directly by GTX, can be programmed by users to support various communication protocols. This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high degree of programmability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ensures maximum compatibility with both existing and future communication devices, thereby reducing the cost of device deployment and iterative updates.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Raw data storage requires a significant amount of storage bandwidth.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limitations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of current storage devices necessitate the need to build disk arrays that can support high-bandwidth data storage. </a:t>
            </a:r>
          </a:p>
        </p:txBody>
      </p:sp>
      <p:pic>
        <p:nvPicPr>
          <p:cNvPr id="8" name="图片 7" descr="introduc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90" y="2451206"/>
            <a:ext cx="3317240" cy="761365"/>
          </a:xfrm>
          <a:prstGeom prst="rect">
            <a:avLst/>
          </a:prstGeom>
        </p:spPr>
      </p:pic>
      <p:sp>
        <p:nvSpPr>
          <p:cNvPr id="14" name="文本框 4"/>
          <p:cNvSpPr txBox="1"/>
          <p:nvPr>
            <p:custDataLst>
              <p:tags r:id="rId1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</a:p>
        </p:txBody>
      </p:sp>
      <p:pic>
        <p:nvPicPr>
          <p:cNvPr id="10" name="图片 2">
            <a:extLst>
              <a:ext uri="{FF2B5EF4-FFF2-40B4-BE49-F238E27FC236}">
                <a16:creationId xmlns:a16="http://schemas.microsoft.com/office/drawing/2014/main" id="{E5277B45-CC04-B3E9-8F3B-6EAE9CA17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092" y="1164767"/>
            <a:ext cx="3064081" cy="2194033"/>
          </a:xfrm>
          <a:prstGeom prst="rect">
            <a:avLst/>
          </a:prstGeom>
        </p:spPr>
      </p:pic>
      <p:sp>
        <p:nvSpPr>
          <p:cNvPr id="24" name="矩形: 圆角 10">
            <a:extLst>
              <a:ext uri="{FF2B5EF4-FFF2-40B4-BE49-F238E27FC236}">
                <a16:creationId xmlns:a16="http://schemas.microsoft.com/office/drawing/2014/main" id="{4137E1DC-4316-A8F5-0110-E72BC587D46B}"/>
              </a:ext>
            </a:extLst>
          </p:cNvPr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High-speed Acquisition Card: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 Sampling and Quantization of Analog Signals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 Receiving and Handling data from ADC;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Transporting data to next work platform;</a:t>
            </a:r>
          </a:p>
        </p:txBody>
      </p:sp>
      <p:sp>
        <p:nvSpPr>
          <p:cNvPr id="25" name="矩形: 圆角 11">
            <a:extLst>
              <a:ext uri="{FF2B5EF4-FFF2-40B4-BE49-F238E27FC236}">
                <a16:creationId xmlns:a16="http://schemas.microsoft.com/office/drawing/2014/main" id="{87DCDF71-0F6F-31F2-E734-5BDD6F2EA8FF}"/>
              </a:ext>
            </a:extLst>
          </p:cNvPr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Optical Communication Receiver Card: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 Communicating with the acquisition card;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 Receiving and Handling data from SFP+ with protocol such as Ethernet, Aurora and so on;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Acting as an assistant to speed up the data processing workflow;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4. Collaborating with the server for data uplink and downlink;</a:t>
            </a:r>
          </a:p>
        </p:txBody>
      </p:sp>
      <p:pic>
        <p:nvPicPr>
          <p:cNvPr id="27" name="图片 5">
            <a:extLst>
              <a:ext uri="{FF2B5EF4-FFF2-40B4-BE49-F238E27FC236}">
                <a16:creationId xmlns:a16="http://schemas.microsoft.com/office/drawing/2014/main" id="{7DE7C564-845A-8C81-D0BA-16A0FFCA0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7179" y="78822"/>
            <a:ext cx="1604915" cy="14029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17697-36BD-9FA7-05A9-312CE83A7ACD}"/>
              </a:ext>
            </a:extLst>
          </p:cNvPr>
          <p:cNvSpPr txBox="1">
            <a:spLocks/>
          </p:cNvSpPr>
          <p:nvPr/>
        </p:nvSpPr>
        <p:spPr>
          <a:xfrm>
            <a:off x="1036793" y="1576933"/>
            <a:ext cx="222176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Font: Calibri(Body) Size:11  Size:11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CF566C-B6D6-7A1B-8D6E-25424A8F8B15}"/>
              </a:ext>
            </a:extLst>
          </p:cNvPr>
          <p:cNvSpPr txBox="1">
            <a:spLocks/>
          </p:cNvSpPr>
          <p:nvPr/>
        </p:nvSpPr>
        <p:spPr>
          <a:xfrm>
            <a:off x="7037169" y="-1643"/>
            <a:ext cx="343627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Team Member Names Font: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Size:12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8ED001-AD53-95D6-9621-8BDEB2523D62}"/>
              </a:ext>
            </a:extLst>
          </p:cNvPr>
          <p:cNvSpPr txBox="1">
            <a:spLocks/>
          </p:cNvSpPr>
          <p:nvPr/>
        </p:nvSpPr>
        <p:spPr>
          <a:xfrm>
            <a:off x="10360536" y="1393972"/>
            <a:ext cx="13133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作品实物缩略图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8DDF753-2B35-BDDC-7305-343252EE65AF}"/>
              </a:ext>
            </a:extLst>
          </p:cNvPr>
          <p:cNvSpPr txBox="1">
            <a:spLocks/>
          </p:cNvSpPr>
          <p:nvPr/>
        </p:nvSpPr>
        <p:spPr>
          <a:xfrm>
            <a:off x="10272665" y="1903396"/>
            <a:ext cx="18291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作品测试平台信息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37DA3F4-5BA7-5AC7-32EE-30BE8BCCC52D}"/>
              </a:ext>
            </a:extLst>
          </p:cNvPr>
          <p:cNvSpPr txBox="1">
            <a:spLocks/>
          </p:cNvSpPr>
          <p:nvPr/>
        </p:nvSpPr>
        <p:spPr>
          <a:xfrm>
            <a:off x="4649501" y="3331017"/>
            <a:ext cx="1446499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系统框图，创新点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38D778A-8127-2BE9-4B89-367B7254BD64}"/>
              </a:ext>
            </a:extLst>
          </p:cNvPr>
          <p:cNvSpPr txBox="1">
            <a:spLocks/>
          </p:cNvSpPr>
          <p:nvPr/>
        </p:nvSpPr>
        <p:spPr>
          <a:xfrm>
            <a:off x="8876696" y="6144674"/>
            <a:ext cx="17608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测试结果，性能，展望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E1987A-1DD0-53C0-FC04-7F242C3711DE}"/>
              </a:ext>
            </a:extLst>
          </p:cNvPr>
          <p:cNvSpPr txBox="1">
            <a:spLocks/>
          </p:cNvSpPr>
          <p:nvPr/>
        </p:nvSpPr>
        <p:spPr>
          <a:xfrm>
            <a:off x="1096156" y="4674511"/>
            <a:ext cx="123199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背景，简介摘要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27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DAA5-F6B5-3781-1A62-332598CA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图片 115">
            <a:extLst>
              <a:ext uri="{FF2B5EF4-FFF2-40B4-BE49-F238E27FC236}">
                <a16:creationId xmlns:a16="http://schemas.microsoft.com/office/drawing/2014/main" id="{211DD07E-F46A-AAF1-6447-0D02D3638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720" y="867042"/>
            <a:ext cx="2723922" cy="23097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E07D787-F7AC-CA28-1CCC-EF0F791C877E}"/>
              </a:ext>
            </a:extLst>
          </p:cNvPr>
          <p:cNvSpPr/>
          <p:nvPr/>
        </p:nvSpPr>
        <p:spPr>
          <a:xfrm>
            <a:off x="8339345" y="2062425"/>
            <a:ext cx="3713537" cy="4578115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B52E08B-B443-3693-8587-AFE9E707336D}"/>
              </a:ext>
            </a:extLst>
          </p:cNvPr>
          <p:cNvSpPr/>
          <p:nvPr/>
        </p:nvSpPr>
        <p:spPr>
          <a:xfrm>
            <a:off x="222421" y="954483"/>
            <a:ext cx="3873604" cy="5713014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13A43C-AF57-8145-AD16-45F8F1EECC58}"/>
              </a:ext>
            </a:extLst>
          </p:cNvPr>
          <p:cNvSpPr/>
          <p:nvPr/>
        </p:nvSpPr>
        <p:spPr>
          <a:xfrm>
            <a:off x="0" y="135526"/>
            <a:ext cx="1240040" cy="273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E1E6B68-BECB-1AE9-B7FA-E89DB4EA8371}"/>
              </a:ext>
            </a:extLst>
          </p:cNvPr>
          <p:cNvSpPr txBox="1">
            <a:spLocks/>
          </p:cNvSpPr>
          <p:nvPr/>
        </p:nvSpPr>
        <p:spPr>
          <a:xfrm>
            <a:off x="317629" y="1572055"/>
            <a:ext cx="3778396" cy="5201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network switch links devices in a LAN, directing data to the right place. It handles multiple connections at once, prioritizes important data, and manages packets of different sizes for smooth communication.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Typical switches, once networking essentials, now show limits under modern demands.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Rigid caching and static memory allocation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reduce adaptability to dynamic traffic, while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weak multi-port parallelism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inadequate priority management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limited error detection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hinder high-performance networking.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</a:p>
          <a:p>
            <a:pPr marL="207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100" dirty="0">
                <a:latin typeface="Calibri "/>
              </a:rPr>
              <a:t>Supports </a:t>
            </a:r>
            <a:r>
              <a:rPr lang="en-US" altLang="zh-CN" sz="1100" b="1" dirty="0">
                <a:latin typeface="Calibri "/>
              </a:rPr>
              <a:t>dynamic memory sharing</a:t>
            </a:r>
            <a:r>
              <a:rPr lang="en-US" altLang="zh-CN" sz="1100" dirty="0">
                <a:latin typeface="Calibri "/>
              </a:rPr>
              <a:t> across ports and queues, optimizing resource usage in real-time.</a:t>
            </a:r>
          </a:p>
          <a:p>
            <a:pPr marL="207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100" dirty="0">
                <a:latin typeface="Calibri "/>
              </a:rPr>
              <a:t>Enables </a:t>
            </a:r>
            <a:r>
              <a:rPr lang="en-US" altLang="zh-CN" sz="1100" b="1" dirty="0">
                <a:latin typeface="Calibri "/>
              </a:rPr>
              <a:t>4 ports to operate simultaneously</a:t>
            </a:r>
            <a:r>
              <a:rPr lang="en-US" altLang="zh-CN" sz="1100" dirty="0">
                <a:latin typeface="Calibri "/>
              </a:rPr>
              <a:t> with up to </a:t>
            </a:r>
            <a:r>
              <a:rPr lang="en-US" altLang="zh-CN" sz="1100" b="1" dirty="0">
                <a:latin typeface="Calibri "/>
              </a:rPr>
              <a:t>4 Gbps bandwidth per port</a:t>
            </a:r>
            <a:r>
              <a:rPr lang="en-US" altLang="zh-CN" sz="1100" dirty="0">
                <a:latin typeface="Calibri "/>
              </a:rPr>
              <a:t>.</a:t>
            </a:r>
          </a:p>
          <a:p>
            <a:pPr marL="207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u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 "/>
              </a:rPr>
              <a:t>Provides </a:t>
            </a:r>
            <a:r>
              <a:rPr lang="en-US" sz="1100" b="1" dirty="0">
                <a:solidFill>
                  <a:prstClr val="black"/>
                </a:solidFill>
                <a:latin typeface="Calibri "/>
              </a:rPr>
              <a:t>4 priority queues per port </a:t>
            </a:r>
            <a:r>
              <a:rPr lang="en-US" sz="1100" dirty="0">
                <a:solidFill>
                  <a:prstClr val="black"/>
                </a:solidFill>
                <a:latin typeface="Calibri "/>
              </a:rPr>
              <a:t>for precise traffic prioritization and enhanced QoS</a:t>
            </a:r>
          </a:p>
          <a:p>
            <a:pPr marL="207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100" dirty="0">
                <a:latin typeface="Calibri "/>
              </a:rPr>
              <a:t>Supports </a:t>
            </a:r>
            <a:r>
              <a:rPr lang="en-US" altLang="zh-CN" sz="1100" b="1" dirty="0">
                <a:latin typeface="Calibri "/>
              </a:rPr>
              <a:t>variable-length packet buffering</a:t>
            </a:r>
            <a:r>
              <a:rPr lang="en-US" altLang="zh-CN" sz="1100" dirty="0">
                <a:latin typeface="Calibri "/>
              </a:rPr>
              <a:t> (64–1024 bytes), ensuring efficient and flexible data handling.</a:t>
            </a:r>
            <a:endParaRPr lang="en-US" altLang="zh-CN" sz="1100" dirty="0">
              <a:solidFill>
                <a:prstClr val="black"/>
              </a:solidFill>
              <a:latin typeface="Calibri "/>
            </a:endParaRPr>
          </a:p>
          <a:p>
            <a:pPr marL="207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100" dirty="0">
                <a:latin typeface="Calibri "/>
              </a:rPr>
              <a:t>Integrates </a:t>
            </a:r>
            <a:r>
              <a:rPr lang="en-US" altLang="zh-CN" sz="1100" b="1" dirty="0">
                <a:latin typeface="Calibri "/>
              </a:rPr>
              <a:t>ECC and CRC mechanisms</a:t>
            </a:r>
            <a:r>
              <a:rPr lang="en-US" altLang="zh-CN" sz="1100" dirty="0">
                <a:latin typeface="Calibri "/>
              </a:rPr>
              <a:t>, ensuring reliable and error-free data transmission.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6E856-1F7B-29DC-EC6F-131562A1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07" y="1089464"/>
            <a:ext cx="2752711" cy="393666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91585-9DBE-4DA2-D488-F342D496C9AB}"/>
              </a:ext>
            </a:extLst>
          </p:cNvPr>
          <p:cNvSpPr txBox="1"/>
          <p:nvPr/>
        </p:nvSpPr>
        <p:spPr>
          <a:xfrm>
            <a:off x="172549" y="0"/>
            <a:ext cx="5911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Hydra: A high-speed multi-port shared cache management module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4" name="文本框 4">
            <a:extLst>
              <a:ext uri="{FF2B5EF4-FFF2-40B4-BE49-F238E27FC236}">
                <a16:creationId xmlns:a16="http://schemas.microsoft.com/office/drawing/2014/main" id="{1265C40B-46F6-DC05-1C17-07D1D6493E04}"/>
              </a:ext>
            </a:extLst>
          </p:cNvPr>
          <p:cNvSpPr txBox="1"/>
          <p:nvPr/>
        </p:nvSpPr>
        <p:spPr>
          <a:xfrm>
            <a:off x="1160692" y="3144230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A89BED3-CF99-A23E-06E8-A1F59E6F399C}"/>
              </a:ext>
            </a:extLst>
          </p:cNvPr>
          <p:cNvCxnSpPr/>
          <p:nvPr/>
        </p:nvCxnSpPr>
        <p:spPr>
          <a:xfrm>
            <a:off x="5996223" y="269320"/>
            <a:ext cx="2213128" cy="1658522"/>
          </a:xfrm>
          <a:prstGeom prst="line">
            <a:avLst/>
          </a:prstGeom>
          <a:ln w="31750" cmpd="sng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E7AED0-C0C4-811A-9D9C-8F3078244F61}"/>
              </a:ext>
            </a:extLst>
          </p:cNvPr>
          <p:cNvCxnSpPr/>
          <p:nvPr/>
        </p:nvCxnSpPr>
        <p:spPr>
          <a:xfrm flipV="1">
            <a:off x="8199745" y="1916384"/>
            <a:ext cx="3659900" cy="11458"/>
          </a:xfrm>
          <a:prstGeom prst="line">
            <a:avLst/>
          </a:prstGeom>
          <a:ln w="31750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9A59525-1AB6-E81A-CB79-C2603C8490A4}"/>
              </a:ext>
            </a:extLst>
          </p:cNvPr>
          <p:cNvCxnSpPr/>
          <p:nvPr/>
        </p:nvCxnSpPr>
        <p:spPr>
          <a:xfrm>
            <a:off x="8209351" y="1927842"/>
            <a:ext cx="0" cy="4622357"/>
          </a:xfrm>
          <a:prstGeom prst="line">
            <a:avLst/>
          </a:prstGeom>
          <a:ln w="31750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9260ADA-B7CA-7D97-8F8F-F22FAE68CD32}"/>
              </a:ext>
            </a:extLst>
          </p:cNvPr>
          <p:cNvSpPr txBox="1"/>
          <p:nvPr/>
        </p:nvSpPr>
        <p:spPr>
          <a:xfrm>
            <a:off x="8886075" y="2441910"/>
            <a:ext cx="3094990" cy="18988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completed work has verified the architecture of Hydra, a high-speed multi-port shared cache management module for routing devices.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Hydra manages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16 SRAM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units providing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1Mbits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of total storage. It supports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simultaneous read and write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operations on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4+ ports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with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4Gbps bandwidth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per port. Featuring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dynamic priority queuing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, packet-level caching and scheduling and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fully dynamic multi-port, multi-queue shared caching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.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1E573F7-CFBC-FF15-0D21-7A501DFA172C}"/>
              </a:ext>
            </a:extLst>
          </p:cNvPr>
          <p:cNvGrpSpPr/>
          <p:nvPr/>
        </p:nvGrpSpPr>
        <p:grpSpPr>
          <a:xfrm>
            <a:off x="7681473" y="2251278"/>
            <a:ext cx="411468" cy="3198053"/>
            <a:chOff x="7553900" y="2191442"/>
            <a:chExt cx="411468" cy="319805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3552934-9A4C-8BA6-C5C1-43290ACC20AF}"/>
                </a:ext>
              </a:extLst>
            </p:cNvPr>
            <p:cNvSpPr txBox="1"/>
            <p:nvPr/>
          </p:nvSpPr>
          <p:spPr>
            <a:xfrm>
              <a:off x="7553900" y="2200504"/>
              <a:ext cx="411468" cy="3188991"/>
            </a:xfrm>
            <a:prstGeom prst="rect">
              <a:avLst/>
            </a:prstGeom>
            <a:solidFill>
              <a:srgbClr val="2F2F2F"/>
            </a:solidFill>
          </p:spPr>
          <p:txBody>
            <a:bodyPr vert="wordArtVert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D6851A8-1882-8B31-55E3-68DD3AAE7498}"/>
                </a:ext>
              </a:extLst>
            </p:cNvPr>
            <p:cNvSpPr txBox="1"/>
            <p:nvPr/>
          </p:nvSpPr>
          <p:spPr>
            <a:xfrm>
              <a:off x="7632531" y="404640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D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3DBF633-9E41-C497-787E-07D0E27F8FC6}"/>
                </a:ext>
              </a:extLst>
            </p:cNvPr>
            <p:cNvSpPr txBox="1"/>
            <p:nvPr/>
          </p:nvSpPr>
          <p:spPr>
            <a:xfrm>
              <a:off x="7632531" y="424123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B20DBA9-A57B-59DA-C4C3-5C173FBFCD35}"/>
                </a:ext>
              </a:extLst>
            </p:cNvPr>
            <p:cNvSpPr txBox="1"/>
            <p:nvPr/>
          </p:nvSpPr>
          <p:spPr>
            <a:xfrm>
              <a:off x="7632531" y="4443469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0220FCC-FBEE-2116-0636-9F21CB1F3DF4}"/>
                </a:ext>
              </a:extLst>
            </p:cNvPr>
            <p:cNvSpPr txBox="1"/>
            <p:nvPr/>
          </p:nvSpPr>
          <p:spPr>
            <a:xfrm>
              <a:off x="7632531" y="4638288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I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669323-0A80-BEB5-82FC-30426BAD64A4}"/>
                </a:ext>
              </a:extLst>
            </p:cNvPr>
            <p:cNvSpPr txBox="1"/>
            <p:nvPr/>
          </p:nvSpPr>
          <p:spPr>
            <a:xfrm>
              <a:off x="7632531" y="4824327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N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193DCBE-5543-4968-3D35-F229847271FC}"/>
                </a:ext>
              </a:extLst>
            </p:cNvPr>
            <p:cNvSpPr txBox="1"/>
            <p:nvPr/>
          </p:nvSpPr>
          <p:spPr>
            <a:xfrm>
              <a:off x="7632531" y="502016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G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0AA5CC8-8B46-2F2F-C36C-6DDACD8A8770}"/>
                </a:ext>
              </a:extLst>
            </p:cNvPr>
            <p:cNvSpPr txBox="1"/>
            <p:nvPr/>
          </p:nvSpPr>
          <p:spPr>
            <a:xfrm>
              <a:off x="7617663" y="2191442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C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901F6F8-A5E2-D0AF-B01D-645B9B432140}"/>
                </a:ext>
              </a:extLst>
            </p:cNvPr>
            <p:cNvSpPr txBox="1"/>
            <p:nvPr/>
          </p:nvSpPr>
          <p:spPr>
            <a:xfrm>
              <a:off x="7632531" y="238626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R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3047A7F-20B6-0252-CF22-3A2DBBE79898}"/>
                </a:ext>
              </a:extLst>
            </p:cNvPr>
            <p:cNvSpPr txBox="1"/>
            <p:nvPr/>
          </p:nvSpPr>
          <p:spPr>
            <a:xfrm>
              <a:off x="7632531" y="2588505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4D23F74-8EC6-7EFC-7285-5C365A9F163C}"/>
                </a:ext>
              </a:extLst>
            </p:cNvPr>
            <p:cNvSpPr txBox="1"/>
            <p:nvPr/>
          </p:nvSpPr>
          <p:spPr>
            <a:xfrm>
              <a:off x="7632531" y="278332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A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9A4DE8E-F703-D6CB-9A6D-FA17B034F93E}"/>
                </a:ext>
              </a:extLst>
            </p:cNvPr>
            <p:cNvSpPr txBox="1"/>
            <p:nvPr/>
          </p:nvSpPr>
          <p:spPr>
            <a:xfrm>
              <a:off x="7632531" y="296936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CA41FCF-BF67-955B-2DEA-6B19D4768251}"/>
                </a:ext>
              </a:extLst>
            </p:cNvPr>
            <p:cNvSpPr txBox="1"/>
            <p:nvPr/>
          </p:nvSpPr>
          <p:spPr>
            <a:xfrm>
              <a:off x="7632531" y="3165199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I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3211B9E-4322-486D-039E-F39D412393F4}"/>
                </a:ext>
              </a:extLst>
            </p:cNvPr>
            <p:cNvSpPr txBox="1"/>
            <p:nvPr/>
          </p:nvSpPr>
          <p:spPr>
            <a:xfrm>
              <a:off x="7632531" y="334968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V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F48774A-4669-7583-3158-ED097DBB784F}"/>
                </a:ext>
              </a:extLst>
            </p:cNvPr>
            <p:cNvSpPr txBox="1"/>
            <p:nvPr/>
          </p:nvSpPr>
          <p:spPr>
            <a:xfrm>
              <a:off x="7632531" y="355058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726AD72A-8985-A02E-63FC-A79EB4FCC30E}"/>
              </a:ext>
            </a:extLst>
          </p:cNvPr>
          <p:cNvSpPr txBox="1"/>
          <p:nvPr/>
        </p:nvSpPr>
        <p:spPr>
          <a:xfrm>
            <a:off x="6344233" y="83501"/>
            <a:ext cx="24231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Dasu Yan, Yixuan Lu, Bohan Li</a:t>
            </a:r>
          </a:p>
        </p:txBody>
      </p:sp>
      <p:sp>
        <p:nvSpPr>
          <p:cNvPr id="96" name="文本框 4">
            <a:extLst>
              <a:ext uri="{FF2B5EF4-FFF2-40B4-BE49-F238E27FC236}">
                <a16:creationId xmlns:a16="http://schemas.microsoft.com/office/drawing/2014/main" id="{58C70887-358A-7BB0-3B2F-3478A39897FF}"/>
              </a:ext>
            </a:extLst>
          </p:cNvPr>
          <p:cNvSpPr txBox="1"/>
          <p:nvPr/>
        </p:nvSpPr>
        <p:spPr>
          <a:xfrm>
            <a:off x="10099497" y="1628207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AMD ZYNQ7000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EF45E0B-80C3-7E69-0218-8C11D2EAF7A7}"/>
              </a:ext>
            </a:extLst>
          </p:cNvPr>
          <p:cNvSpPr txBox="1"/>
          <p:nvPr/>
        </p:nvSpPr>
        <p:spPr>
          <a:xfrm>
            <a:off x="6354787" y="335502"/>
            <a:ext cx="27239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South China University of Technology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6A6A9DE-EE1F-DE3B-4D9B-5DB6851B8FCC}"/>
              </a:ext>
            </a:extLst>
          </p:cNvPr>
          <p:cNvSpPr txBox="1"/>
          <p:nvPr/>
        </p:nvSpPr>
        <p:spPr>
          <a:xfrm>
            <a:off x="7985596" y="862468"/>
            <a:ext cx="18900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OpenHW2024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ECFA5D2-FBAA-2269-5F3E-46637182BD73}"/>
              </a:ext>
            </a:extLst>
          </p:cNvPr>
          <p:cNvGrpSpPr/>
          <p:nvPr/>
        </p:nvGrpSpPr>
        <p:grpSpPr>
          <a:xfrm>
            <a:off x="8492386" y="2541522"/>
            <a:ext cx="377933" cy="1678530"/>
            <a:chOff x="8507018" y="2052136"/>
            <a:chExt cx="377933" cy="1678530"/>
          </a:xfrm>
        </p:grpSpPr>
        <p:sp>
          <p:nvSpPr>
            <p:cNvPr id="104" name="Title 1">
              <a:extLst>
                <a:ext uri="{FF2B5EF4-FFF2-40B4-BE49-F238E27FC236}">
                  <a16:creationId xmlns:a16="http://schemas.microsoft.com/office/drawing/2014/main" id="{176D8231-843A-7889-4421-9B7B8DFF9BD9}"/>
                </a:ext>
              </a:extLst>
            </p:cNvPr>
            <p:cNvSpPr txBox="1"/>
            <p:nvPr/>
          </p:nvSpPr>
          <p:spPr>
            <a:xfrm>
              <a:off x="8507018" y="2052136"/>
              <a:ext cx="377933" cy="1678530"/>
            </a:xfrm>
            <a:prstGeom prst="rect">
              <a:avLst/>
            </a:prstGeom>
            <a:solidFill>
              <a:srgbClr val="2F2F2F"/>
            </a:solidFill>
          </p:spPr>
          <p:txBody>
            <a:bodyPr vert="wordArtVert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89AD034-0A3F-198C-67B2-E5246B3C1D0A}"/>
                </a:ext>
              </a:extLst>
            </p:cNvPr>
            <p:cNvSpPr txBox="1"/>
            <p:nvPr/>
          </p:nvSpPr>
          <p:spPr>
            <a:xfrm>
              <a:off x="8555488" y="220050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R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1473BC4-DAEF-FE59-75EA-75ACA2BDF2FB}"/>
                </a:ext>
              </a:extLst>
            </p:cNvPr>
            <p:cNvSpPr txBox="1"/>
            <p:nvPr/>
          </p:nvSpPr>
          <p:spPr>
            <a:xfrm>
              <a:off x="8555488" y="238957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D64BF7B-3463-8655-6E30-8A0F81D64811}"/>
                </a:ext>
              </a:extLst>
            </p:cNvPr>
            <p:cNvSpPr txBox="1"/>
            <p:nvPr/>
          </p:nvSpPr>
          <p:spPr>
            <a:xfrm>
              <a:off x="8555488" y="259241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013856C-5CCF-8A26-2A90-CABDDBFFBA73}"/>
                </a:ext>
              </a:extLst>
            </p:cNvPr>
            <p:cNvSpPr txBox="1"/>
            <p:nvPr/>
          </p:nvSpPr>
          <p:spPr>
            <a:xfrm>
              <a:off x="8555488" y="281074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U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074594A-1EFB-F4A4-AC89-16DCB8AD444A}"/>
                </a:ext>
              </a:extLst>
            </p:cNvPr>
            <p:cNvSpPr txBox="1"/>
            <p:nvPr/>
          </p:nvSpPr>
          <p:spPr>
            <a:xfrm>
              <a:off x="8555488" y="3017161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L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B8A53B7-55EB-0138-C0B9-DE56866190D4}"/>
                </a:ext>
              </a:extLst>
            </p:cNvPr>
            <p:cNvSpPr txBox="1"/>
            <p:nvPr/>
          </p:nvSpPr>
          <p:spPr>
            <a:xfrm>
              <a:off x="8555488" y="321837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T</a:t>
              </a:r>
            </a:p>
          </p:txBody>
        </p:sp>
      </p:grp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6883E84-5CF6-71E4-4525-D7CFB2F8C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115" y="1033732"/>
            <a:ext cx="1699920" cy="9562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9EDCF8-E2F9-FDBC-770F-C72A05F174FA}"/>
              </a:ext>
            </a:extLst>
          </p:cNvPr>
          <p:cNvSpPr txBox="1"/>
          <p:nvPr/>
        </p:nvSpPr>
        <p:spPr>
          <a:xfrm>
            <a:off x="8547232" y="4447386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Hydra, our high-speed multi-port shared cache management module, not only fulfills basic switch functions but also offers strong scalability and performance, surpassing current market products.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With the rapid rise of 3D ICs and M3D technology, Hydra’s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16×32 Crossbar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architecture is well-positioned for future high-dimensional designs. As 3D integration advances, Hydra could evolve into higher-dimensional structures, unlocking unparalleled performance for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5G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and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6G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network applications. This is the future we aim for.</a:t>
            </a: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617FAB33-2EF1-9416-0A48-E8F7DF225D8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680088" y="3328896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</a:p>
        </p:txBody>
      </p:sp>
      <p:sp>
        <p:nvSpPr>
          <p:cNvPr id="25" name="矩形: 圆角 11">
            <a:extLst>
              <a:ext uri="{FF2B5EF4-FFF2-40B4-BE49-F238E27FC236}">
                <a16:creationId xmlns:a16="http://schemas.microsoft.com/office/drawing/2014/main" id="{60DAD9AF-320E-851F-198B-7DA4B952BA50}"/>
              </a:ext>
            </a:extLst>
          </p:cNvPr>
          <p:cNvSpPr/>
          <p:nvPr/>
        </p:nvSpPr>
        <p:spPr>
          <a:xfrm>
            <a:off x="4328320" y="3730665"/>
            <a:ext cx="3274725" cy="2909875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ighlights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I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nnovations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Calibri "/>
              </a:rPr>
              <a:t>Optimized Crossbar Design</a:t>
            </a:r>
            <a:r>
              <a:rPr lang="en-US" altLang="zh-CN" sz="1100" dirty="0">
                <a:solidFill>
                  <a:schemeClr val="tx1"/>
                </a:solidFill>
                <a:latin typeface="Calibri "/>
              </a:rPr>
              <a:t>: Resolves key inefficiencies of traditional switches.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Calibri "/>
              </a:rPr>
              <a:t>Efficient Priority Queues</a:t>
            </a:r>
            <a:r>
              <a:rPr lang="en-US" altLang="zh-CN" sz="1100" dirty="0">
                <a:solidFill>
                  <a:schemeClr val="tx1"/>
                </a:solidFill>
                <a:latin typeface="Calibri "/>
              </a:rPr>
              <a:t>: Reduces resource use with jump table optimization.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Calibri "/>
              </a:rPr>
              <a:t>Advanced Read-Write</a:t>
            </a:r>
            <a:r>
              <a:rPr lang="en-US" altLang="zh-CN" sz="1100" dirty="0">
                <a:solidFill>
                  <a:schemeClr val="tx1"/>
                </a:solidFill>
                <a:latin typeface="Calibri "/>
              </a:rPr>
              <a:t>: Supports fast splicing, breakpoint resumption, and packet-level operations.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Calibri "/>
              </a:rPr>
              <a:t>Dynamic Allocation</a:t>
            </a:r>
            <a:r>
              <a:rPr lang="en-US" altLang="zh-CN" sz="1100" dirty="0">
                <a:solidFill>
                  <a:schemeClr val="tx1"/>
                </a:solidFill>
                <a:latin typeface="Calibri "/>
              </a:rPr>
              <a:t>: Integrates dynamic and static resource matching for flexibility.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Calibri "/>
              </a:rPr>
              <a:t>Reliable Data Handling</a:t>
            </a:r>
            <a:r>
              <a:rPr lang="en-US" altLang="zh-CN" sz="1100" dirty="0">
                <a:solidFill>
                  <a:schemeClr val="tx1"/>
                </a:solidFill>
                <a:latin typeface="Calibri "/>
              </a:rPr>
              <a:t>: Ensures efficiency with optimized encoding-decoding and low-complexity WRR.</a:t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b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18EB1F4-A057-CB30-E7E0-F867C268F1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263" y="125783"/>
            <a:ext cx="711592" cy="71159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48D2BCC-058C-5FC6-AE1E-2CE4B1A3BB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7" y="137732"/>
            <a:ext cx="1890043" cy="141793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9" name="图形 58" descr="计算机">
            <a:extLst>
              <a:ext uri="{FF2B5EF4-FFF2-40B4-BE49-F238E27FC236}">
                <a16:creationId xmlns:a16="http://schemas.microsoft.com/office/drawing/2014/main" id="{E5F93F1D-1BCF-06DB-8EEF-FB9589166E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0099" y="2399249"/>
            <a:ext cx="617955" cy="617955"/>
          </a:xfrm>
          <a:prstGeom prst="rect">
            <a:avLst/>
          </a:prstGeom>
        </p:spPr>
      </p:pic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F5B2B46-23BE-34B5-DD58-3A1B565A86B7}"/>
              </a:ext>
            </a:extLst>
          </p:cNvPr>
          <p:cNvCxnSpPr/>
          <p:nvPr/>
        </p:nvCxnSpPr>
        <p:spPr>
          <a:xfrm>
            <a:off x="1490366" y="2691292"/>
            <a:ext cx="37465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图形 61" descr="计算机">
            <a:extLst>
              <a:ext uri="{FF2B5EF4-FFF2-40B4-BE49-F238E27FC236}">
                <a16:creationId xmlns:a16="http://schemas.microsoft.com/office/drawing/2014/main" id="{BDC5FE43-5988-01E8-6E0C-682CD5E6AD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60163" y="2399249"/>
            <a:ext cx="617955" cy="617955"/>
          </a:xfrm>
          <a:prstGeom prst="rect">
            <a:avLst/>
          </a:prstGeom>
        </p:spPr>
      </p:pic>
      <p:pic>
        <p:nvPicPr>
          <p:cNvPr id="64" name="图形 63" descr="服务器">
            <a:extLst>
              <a:ext uri="{FF2B5EF4-FFF2-40B4-BE49-F238E27FC236}">
                <a16:creationId xmlns:a16="http://schemas.microsoft.com/office/drawing/2014/main" id="{95E8C902-E98F-DF11-8AA7-9DC716A00E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64553" y="2426041"/>
            <a:ext cx="557767" cy="557767"/>
          </a:xfrm>
          <a:prstGeom prst="rect">
            <a:avLst/>
          </a:prstGeom>
        </p:spPr>
      </p:pic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18BF7AA-2AE1-8438-92B5-385277DE8EC2}"/>
              </a:ext>
            </a:extLst>
          </p:cNvPr>
          <p:cNvCxnSpPr/>
          <p:nvPr/>
        </p:nvCxnSpPr>
        <p:spPr>
          <a:xfrm>
            <a:off x="2401137" y="2691292"/>
            <a:ext cx="37465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ADF94D59-D955-2476-86E7-D46C3A805B09}"/>
              </a:ext>
            </a:extLst>
          </p:cNvPr>
          <p:cNvSpPr txBox="1"/>
          <p:nvPr/>
        </p:nvSpPr>
        <p:spPr>
          <a:xfrm>
            <a:off x="1446126" y="2491365"/>
            <a:ext cx="5088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Calibri "/>
              </a:rPr>
              <a:t>Data</a:t>
            </a:r>
            <a:endParaRPr lang="zh-CN" altLang="en-US" sz="1000" dirty="0">
              <a:solidFill>
                <a:schemeClr val="bg2">
                  <a:lumMod val="50000"/>
                </a:schemeClr>
              </a:solidFill>
              <a:latin typeface="Calibri 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0998501-EB8F-F9E9-5ACF-E337D8764492}"/>
              </a:ext>
            </a:extLst>
          </p:cNvPr>
          <p:cNvSpPr txBox="1"/>
          <p:nvPr/>
        </p:nvSpPr>
        <p:spPr>
          <a:xfrm>
            <a:off x="2350464" y="2491365"/>
            <a:ext cx="5088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Calibri "/>
              </a:rPr>
              <a:t>Data</a:t>
            </a:r>
            <a:endParaRPr lang="zh-CN" altLang="en-US" sz="1000" dirty="0">
              <a:solidFill>
                <a:schemeClr val="bg2">
                  <a:lumMod val="50000"/>
                </a:schemeClr>
              </a:solidFill>
              <a:latin typeface="Calibri 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1EF60F5-E8D1-CA21-F20E-5EB9D3287F53}"/>
              </a:ext>
            </a:extLst>
          </p:cNvPr>
          <p:cNvSpPr txBox="1"/>
          <p:nvPr/>
        </p:nvSpPr>
        <p:spPr>
          <a:xfrm>
            <a:off x="1868369" y="2922255"/>
            <a:ext cx="578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alibri "/>
              </a:rPr>
              <a:t>Switch</a:t>
            </a:r>
            <a:endParaRPr lang="zh-CN" altLang="en-US" sz="1000" b="1" dirty="0">
              <a:latin typeface="Calibri 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75456F5-28B0-1EEB-14E4-5E4640A1DC0F}"/>
              </a:ext>
            </a:extLst>
          </p:cNvPr>
          <p:cNvSpPr txBox="1"/>
          <p:nvPr/>
        </p:nvSpPr>
        <p:spPr>
          <a:xfrm>
            <a:off x="928100" y="2918022"/>
            <a:ext cx="381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alibri "/>
              </a:rPr>
              <a:t>PC</a:t>
            </a:r>
            <a:endParaRPr lang="zh-CN" altLang="en-US" sz="1000" b="1" dirty="0">
              <a:latin typeface="Calibri 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F22CF3A-106E-2856-6CAC-70D0E7893A94}"/>
              </a:ext>
            </a:extLst>
          </p:cNvPr>
          <p:cNvSpPr txBox="1"/>
          <p:nvPr/>
        </p:nvSpPr>
        <p:spPr>
          <a:xfrm>
            <a:off x="3068063" y="2918022"/>
            <a:ext cx="381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alibri "/>
              </a:rPr>
              <a:t>PC</a:t>
            </a:r>
            <a:endParaRPr lang="zh-CN" altLang="en-US" sz="1000" b="1" dirty="0">
              <a:latin typeface="Calibri "/>
            </a:endParaRPr>
          </a:p>
        </p:txBody>
      </p:sp>
      <p:sp>
        <p:nvSpPr>
          <p:cNvPr id="117" name="等腰三角形 116">
            <a:extLst>
              <a:ext uri="{FF2B5EF4-FFF2-40B4-BE49-F238E27FC236}">
                <a16:creationId xmlns:a16="http://schemas.microsoft.com/office/drawing/2014/main" id="{A2309092-DD9B-960A-21F8-77453EF2849F}"/>
              </a:ext>
            </a:extLst>
          </p:cNvPr>
          <p:cNvSpPr/>
          <p:nvPr/>
        </p:nvSpPr>
        <p:spPr>
          <a:xfrm rot="2242582">
            <a:off x="6705338" y="495254"/>
            <a:ext cx="1084569" cy="608702"/>
          </a:xfrm>
          <a:prstGeom prst="triangle">
            <a:avLst>
              <a:gd name="adj" fmla="val 51811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767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912</Words>
  <Application>Microsoft Office PowerPoint</Application>
  <PresentationFormat>宽屏</PresentationFormat>
  <Paragraphs>115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Calibri </vt:lpstr>
      <vt:lpstr>等线</vt:lpstr>
      <vt:lpstr>微软雅黑</vt:lpstr>
      <vt:lpstr>Aharoni</vt:lpstr>
      <vt:lpstr>Aptos</vt:lpstr>
      <vt:lpstr>Aptos Display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INTRODUCTION</vt:lpstr>
      <vt:lpstr>INTRODUCTION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Wen (Vicky)</dc:creator>
  <cp:lastModifiedBy>Brandon Lee</cp:lastModifiedBy>
  <cp:revision>10</cp:revision>
  <dcterms:created xsi:type="dcterms:W3CDTF">2024-09-09T08:07:06Z</dcterms:created>
  <dcterms:modified xsi:type="dcterms:W3CDTF">2025-10-24T08:22:37Z</dcterms:modified>
</cp:coreProperties>
</file>