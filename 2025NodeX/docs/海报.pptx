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sldIdLst>
    <p:sldId id="214747208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8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8990D6-08C6-4FC7-BBD6-AFFCA1688072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6B608-C53F-40AA-9842-776B0B96C4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168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C008C-68C3-4508-B7CA-EAB1E612D75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897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9A0E-7A92-AC35-9AD7-A7E2C60C1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003A92-84D4-B415-E4F7-62B71276A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88E3A-CBB1-0D23-F51F-3ABB0B46B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3CD00-F9E6-0070-40CA-604523437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D7065-F958-764E-CB72-F932802B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57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CA227-CA7A-62B9-0F42-509E8A389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401F9-FC4E-AC44-092C-88E40E254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F3A90-0B3E-0D8B-1973-F80AC9FC2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D3118-502B-6BC7-8E9B-8D26FA49C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DFFE0-A818-07B7-F2CD-B5BEC264B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94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A271-CC41-21A7-DA9B-221D7EE62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48E2F-4D3E-22C1-406C-2B8A4C67F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DE4E2-69C5-5ED6-AFEB-3B837BF56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0CC17-5810-E2B3-FCF1-EE2DED91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285DC-8DCC-81D4-973F-49BED49C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37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294F-9D1F-53E2-8D12-8A8659E0E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365A-7FD7-2002-2823-F76840CAE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22240-15F8-EFBB-8428-D602613F1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7E0B0-6333-917F-DBA5-B9342878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2452B-0A96-ED94-64D3-728DEFE7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93D1D-393F-F3F2-C1E1-C467C69C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35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79553-06E6-86C5-FD5F-45541994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B3FEC-E700-8ABD-D1DD-781902AC6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5BB28-0BDC-F469-2D57-53C984F9D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C1997-3E7B-4C33-08BD-D68FE16EB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06B7E3-81E9-FEB0-4AAF-31A1C509E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F1C012-B150-7D20-38F2-1695DA39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32253B-AD78-BF82-7760-B726071B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D99F7-FF66-EED2-9C82-EFEF8B890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2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4AE5D-C529-01E0-7DEA-9D828C31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83C94-9710-F2C1-291C-F02721FF1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D4010-E545-4227-F5C1-51D8C798C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82CBC-57D1-2059-F439-513221C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9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AD649E-4A02-C9BC-69CA-E7EB08333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69B027-8A44-EFB6-9673-EB5C0911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B26DA-4F67-427A-6C7D-136DCB42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20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67B2A-8F1C-8384-463F-C836D6B55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7D2C3-E953-6AC2-19D2-9D11D4596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A1902-CE0E-C177-EB61-730B380C6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789AF-DF9D-4C76-ABE8-A0A78B79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C3AD9-D8E2-8A06-A04A-C4A14FA06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A6D0E-7135-1617-CC84-DE2337D9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1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5ED7A-6385-4EF9-AFCC-759506976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8EFB52-3868-A747-B07D-78A5817B0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8F87E-FCFA-5030-5210-FF19F52E0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BA992-C72D-E9C8-2638-E5F9AD4C3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7EAF4-5945-01A5-E022-770C2F7D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1E50F-1775-EC4A-56CA-61DFA3071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460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F33B-285D-7BAD-608A-8CF466E7D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D89AB-DCB1-B72D-4C26-34EE41737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1D562-F9FE-CA7A-6778-020BF7B96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8F762-1C6C-5770-69C3-F6E4DE842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172FD-E613-861F-CCC8-7E873F3C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4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248615-78CA-1176-749C-DF56A4B8E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A9008-8182-3D87-CE58-9BA8B034C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FD385-5ED8-865E-459D-7ACE577D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6E302-2613-FF87-CA17-EAE4DF81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E7D86-8302-062A-5792-8D7E687DB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72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44B03-DC5B-1B84-49A1-6E675D361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4A924-631B-84A5-9C1E-D34F2CBAE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1F0D6-BBDB-3A19-1671-1C4E306E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AD409-E358-7209-8A86-64C72338D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86B43-7A98-233A-D8E7-6FF2D658C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582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BB0D-CAEC-9D1D-0FD6-0489EE7CB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93ED8-C205-BACC-11ED-87A38506E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8F1B5-9B65-EED6-F0AE-CC0A8E54B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67D6D-C04C-4C51-EE41-17A961950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7BF9E-6220-6C04-260A-DB563ECF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35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ADB31-D325-726F-F6E8-9ADEFAE83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E3823-D42D-4946-0ECA-FA3D7C40E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2EC95-74A6-7219-5914-C0A3331C6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29B0B-AD98-EB14-DF87-CB9240A84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AC9F9-DA37-531C-AABF-F4156CDAF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41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AC394-A63F-D897-A3D5-64AB9AE93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FD4A5-3BAC-76A0-A99B-F8BEA168C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608E3-B61F-4CFA-DC82-02C86529B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ABC2D-F1B8-A11D-A91C-16E61D9A2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B827D-FDB1-B5CE-48A8-06D5D12D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4E846-7863-A881-DE4E-CBF5B3FB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82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F73C-C37A-C387-E9FE-229277FCF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63E90-5699-D8E9-AFAC-4C3B3E63B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227E2-7D6D-D7D7-7C15-25235C105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332BDA-D6B6-D61D-0458-DB4D46DA3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4E513C-7836-8370-F9D0-A35662D0FE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B1FAAB-93B6-E0DB-02B7-3245547BF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4A5BB6-5F08-CB46-7468-6449C9194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E2B2CC-D620-3BFA-7E18-D27E803E8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52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18A66-9D39-61B0-A510-B813898F6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B23D65-8C47-E134-1E66-BCC8E008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1518C-5EFE-880C-80ED-F07E1C95B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784BC-F272-9AA1-9CCC-91F19DE2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3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B62DF6-4682-99B4-2B5F-F473A3E4F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DC2D65-224E-564F-8DB5-978B05DB8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842A6-6FF7-B9B8-2F76-DABDA2B8E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93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04D3E-94AA-7EDF-D31C-203E01EA5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FC52F-2B30-69EF-DE3C-1FEB55670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17FB7-EEF0-0833-8A3A-0A008A86E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B5008-0C6F-9AE1-009F-D99FBE49F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5326D-61C8-3CA0-8C06-BDA2BA208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5A397-456E-3CB2-4ACF-3CB2F038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4915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DAEF-261E-FA7C-8CED-78230FC3A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667433-60FF-A86A-2C5B-965642EE37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E4AD6-4B07-9842-DFB1-2167ED836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57E40-B8EE-D80C-6A5D-538E315F2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461B5-45F1-1EEC-78F3-D5C219E1A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01A95-25E2-F6D7-6DE0-D49255D3B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677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32C3-5ACC-D3D9-8DE6-CFA8FC0D0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1F238-0A68-0564-12BB-8F6C9ED4A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F84D6-24D6-6B8A-1589-2E38A25D9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84594-421D-06E2-0CF8-00F2439E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1E1E7-9C96-A3D5-9FD8-F6112D4A5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842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1FC101-CD1D-69FC-2C2D-43A182A6B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409C2D-EE04-5CC2-7EB2-14DEF31E0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24EA7-F36E-CEBC-C0D1-5039F0615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23CCC-C2BC-F47C-C266-281B03955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FA4D0-CE85-74EA-E615-8E7147747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7988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084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7143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1617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557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397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8429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347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477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3A4FCE-3A35-AF12-4EB0-4812C9C9A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30EB9-DBF9-CE4C-6E87-923D7F107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35641-CC9D-0FAE-4CCF-1941356C8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A60CF-92FF-D6AC-109D-1E0DD83D8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307A6-9670-B2D9-E134-C3BD292CF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31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9E8DB-A4AB-B75C-4ED1-9BACD1E58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2F329-27F8-C1C6-497E-4A373AAE8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B96BC-9033-211E-EFCF-785F333CF7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1C422-BDF8-5159-B23E-BDA02511B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668BD-72D7-7458-1C89-EC06D5775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2808A-EBBE-68AC-3DD8-241E700B91F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90500" y="190500"/>
            <a:ext cx="4492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[Public]</a:t>
            </a:r>
          </a:p>
        </p:txBody>
      </p:sp>
    </p:spTree>
    <p:extLst>
      <p:ext uri="{BB962C8B-B14F-4D97-AF65-F5344CB8AC3E}">
        <p14:creationId xmlns:p14="http://schemas.microsoft.com/office/powerpoint/2010/main" val="224057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image" Target="../media/image2.jp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13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7DAA5-F6B5-3781-1A62-332598CA8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E07D787-F7AC-CA28-1CCC-EF0F791C877E}"/>
              </a:ext>
            </a:extLst>
          </p:cNvPr>
          <p:cNvSpPr/>
          <p:nvPr/>
        </p:nvSpPr>
        <p:spPr>
          <a:xfrm>
            <a:off x="8339345" y="2062425"/>
            <a:ext cx="3713537" cy="4578115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00">
              <a:solidFill>
                <a:srgbClr val="FF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B52E08B-B443-3693-8587-AFE9E707336D}"/>
              </a:ext>
            </a:extLst>
          </p:cNvPr>
          <p:cNvSpPr/>
          <p:nvPr/>
        </p:nvSpPr>
        <p:spPr>
          <a:xfrm>
            <a:off x="222421" y="954483"/>
            <a:ext cx="3794649" cy="5713014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00">
              <a:solidFill>
                <a:srgbClr val="FF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13A43C-AF57-8145-AD16-45F8F1EECC58}"/>
              </a:ext>
            </a:extLst>
          </p:cNvPr>
          <p:cNvSpPr/>
          <p:nvPr/>
        </p:nvSpPr>
        <p:spPr>
          <a:xfrm>
            <a:off x="0" y="135526"/>
            <a:ext cx="1240040" cy="273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E1E6B68-BECB-1AE9-B7FA-E89DB4EA8371}"/>
              </a:ext>
            </a:extLst>
          </p:cNvPr>
          <p:cNvSpPr txBox="1">
            <a:spLocks/>
          </p:cNvSpPr>
          <p:nvPr/>
        </p:nvSpPr>
        <p:spPr>
          <a:xfrm>
            <a:off x="289054" y="1572055"/>
            <a:ext cx="3778396" cy="48096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  <a:defRPr/>
            </a:pPr>
            <a:r>
              <a:rPr lang="en-US" altLang="zh-CN" sz="1100"/>
              <a:t>The power-law distribution of real-world graphs leads to extreme sparsity and highly uneven connectivity. This irregularity becomes a critical computational bottleneck for Graph Neural Networks (GNNs), as it impedes the efficiency of the fundamental SpMM operations during inference.</a:t>
            </a:r>
          </a:p>
          <a:p>
            <a:pPr marL="0" lvl="0" indent="0">
              <a:lnSpc>
                <a:spcPct val="100000"/>
              </a:lnSpc>
              <a:buNone/>
              <a:defRPr/>
            </a:pPr>
            <a:endParaRPr lang="en-US" sz="1100">
              <a:solidFill>
                <a:prstClr val="black"/>
              </a:solidFill>
              <a:latin typeface="Calibri" panose="020F0502020204030204"/>
            </a:endParaRPr>
          </a:p>
          <a:p>
            <a:pPr marL="0" lvl="0" indent="0">
              <a:lnSpc>
                <a:spcPct val="100000"/>
              </a:lnSpc>
              <a:buNone/>
              <a:defRPr/>
            </a:pP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100">
              <a:solidFill>
                <a:prstClr val="black"/>
              </a:solidFill>
              <a:latin typeface="Calibri" panose="020F0502020204030204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altLang="zh-CN" sz="1100"/>
              <a:t>Traditional general-purpose processors show limitations when handling sparse matrix computations in GNNs. Fixed memory architectures struggle to adapt to irregular sparse data access patterns and inadequate data reuse mechanisms.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technical issues addressed:</a:t>
            </a:r>
          </a:p>
          <a:p>
            <a:pPr marL="207450" indent="-171450">
              <a:lnSpc>
                <a:spcPct val="100000"/>
              </a:lnSpc>
              <a:spcBef>
                <a:spcPts val="300"/>
              </a:spcBef>
              <a:buSzPct val="75000"/>
              <a:buFont typeface="Wingdings" panose="05000000000000000000" pitchFamily="2" charset="2"/>
              <a:buChar char="u"/>
              <a:defRPr/>
            </a:pPr>
            <a:r>
              <a:rPr lang="en-US" altLang="zh-CN" sz="1100">
                <a:latin typeface="Calibri "/>
              </a:rPr>
              <a:t>Supports custom RISC-V based SpMM instruction set with dual-issue capability, enabling computation and data loading parallelism</a:t>
            </a:r>
          </a:p>
          <a:p>
            <a:pPr marL="207450" indent="-171450">
              <a:lnSpc>
                <a:spcPct val="100000"/>
              </a:lnSpc>
              <a:spcBef>
                <a:spcPts val="300"/>
              </a:spcBef>
              <a:buSzPct val="75000"/>
              <a:buFont typeface="Wingdings" panose="05000000000000000000" pitchFamily="2" charset="2"/>
              <a:buChar char="u"/>
              <a:defRPr/>
            </a:pPr>
            <a:r>
              <a:rPr lang="en-US" altLang="zh-CN" sz="1100">
                <a:latin typeface="Calibri "/>
              </a:rPr>
              <a:t>Implements dynamic memory access optimization specifically for power-law graph characteristics, enabling efficient handling of irregular memory access patterns</a:t>
            </a:r>
          </a:p>
          <a:p>
            <a:pPr marL="207450" indent="-171450">
              <a:lnSpc>
                <a:spcPct val="100000"/>
              </a:lnSpc>
              <a:spcBef>
                <a:spcPts val="300"/>
              </a:spcBef>
              <a:buSzPct val="75000"/>
              <a:buFont typeface="Wingdings" panose="05000000000000000000" pitchFamily="2" charset="2"/>
              <a:buChar char="u"/>
              <a:defRPr/>
            </a:pPr>
            <a:r>
              <a:rPr lang="en-US" altLang="zh-CN" sz="1100">
                <a:latin typeface="Calibri "/>
              </a:rPr>
              <a:t>Provides fixed-row caching mechanism achieving ≥80% hit rate for frequently accessed hub node 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E6E856-1F7B-29DC-EC6F-131562A1B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07" y="1089464"/>
            <a:ext cx="2752711" cy="393666"/>
          </a:xfrm>
          <a:solidFill>
            <a:srgbClr val="2F2F2F"/>
          </a:solidFill>
        </p:spPr>
        <p:txBody>
          <a:bodyPr>
            <a:norm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091585-9DBE-4DA2-D488-F342D496C9AB}"/>
              </a:ext>
            </a:extLst>
          </p:cNvPr>
          <p:cNvSpPr txBox="1"/>
          <p:nvPr/>
        </p:nvSpPr>
        <p:spPr>
          <a:xfrm>
            <a:off x="1099" y="0"/>
            <a:ext cx="69839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SpMM Vector Processor for GNN Based on RISC-V Instructions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4E7AED0-C0C4-811A-9D9C-8F3078244F61}"/>
              </a:ext>
            </a:extLst>
          </p:cNvPr>
          <p:cNvCxnSpPr>
            <a:cxnSpLocks/>
          </p:cNvCxnSpPr>
          <p:nvPr/>
        </p:nvCxnSpPr>
        <p:spPr>
          <a:xfrm>
            <a:off x="8215631" y="1921986"/>
            <a:ext cx="3910960" cy="0"/>
          </a:xfrm>
          <a:prstGeom prst="line">
            <a:avLst/>
          </a:prstGeom>
          <a:ln w="2222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9A59525-1AB6-E81A-CB79-C2603C8490A4}"/>
              </a:ext>
            </a:extLst>
          </p:cNvPr>
          <p:cNvCxnSpPr/>
          <p:nvPr/>
        </p:nvCxnSpPr>
        <p:spPr>
          <a:xfrm>
            <a:off x="8209351" y="1927842"/>
            <a:ext cx="0" cy="4622357"/>
          </a:xfrm>
          <a:prstGeom prst="line">
            <a:avLst/>
          </a:prstGeom>
          <a:ln w="2222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9260ADA-B7CA-7D97-8F8F-F22FAE68CD32}"/>
              </a:ext>
            </a:extLst>
          </p:cNvPr>
          <p:cNvSpPr txBox="1"/>
          <p:nvPr/>
        </p:nvSpPr>
        <p:spPr>
          <a:xfrm>
            <a:off x="8886075" y="2441910"/>
            <a:ext cx="3094990" cy="18988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lnSpc>
                <a:spcPct val="100000"/>
              </a:lnSpc>
              <a:spcBef>
                <a:spcPts val="800"/>
              </a:spcBef>
              <a:defRPr/>
            </a:pPr>
            <a:r>
              <a:rPr lang="en-US" altLang="zh-CN"/>
              <a:t>This project has successfully designed and implemented a specialized vector processor for sparse matrix computations, employing a three-stage pipeline architecture that validates the custom instruction set and hardware acceleration scheme for SpMM operations.</a:t>
            </a:r>
          </a:p>
          <a:p>
            <a:pPr lvl="0">
              <a:lnSpc>
                <a:spcPct val="100000"/>
              </a:lnSpc>
              <a:spcBef>
                <a:spcPts val="800"/>
              </a:spcBef>
              <a:defRPr/>
            </a:pPr>
            <a:r>
              <a:rPr lang="en-US" altLang="zh-CN"/>
              <a:t> The processor core integrates </a:t>
            </a:r>
            <a:r>
              <a:rPr lang="en-US" altLang="zh-CN" b="1"/>
              <a:t>a vector execution unit, multi-level buffer hierarchy, and dual-issue control mechanism</a:t>
            </a:r>
            <a:r>
              <a:rPr lang="en-US" altLang="zh-CN"/>
              <a:t> with up to 52% hit rate and 1.8 times more efficient compared to scalar processors. </a:t>
            </a:r>
            <a:endParaRPr kumimoji="0" lang="en-US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+mn-ea"/>
              <a:cs typeface="Calibri" panose="020F0502020204030204" charset="0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1E573F7-CFBC-FF15-0D21-7A501DFA172C}"/>
              </a:ext>
            </a:extLst>
          </p:cNvPr>
          <p:cNvGrpSpPr/>
          <p:nvPr/>
        </p:nvGrpSpPr>
        <p:grpSpPr>
          <a:xfrm>
            <a:off x="7700790" y="2251278"/>
            <a:ext cx="411468" cy="3198053"/>
            <a:chOff x="7553900" y="2191442"/>
            <a:chExt cx="411468" cy="3198053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73552934-9A4C-8BA6-C5C1-43290ACC20AF}"/>
                </a:ext>
              </a:extLst>
            </p:cNvPr>
            <p:cNvSpPr txBox="1"/>
            <p:nvPr/>
          </p:nvSpPr>
          <p:spPr>
            <a:xfrm>
              <a:off x="7553900" y="2200504"/>
              <a:ext cx="411468" cy="3188991"/>
            </a:xfrm>
            <a:prstGeom prst="rect">
              <a:avLst/>
            </a:prstGeom>
            <a:solidFill>
              <a:srgbClr val="2F2F2F"/>
            </a:solidFill>
          </p:spPr>
          <p:txBody>
            <a:bodyPr vert="wordArtVert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D6851A8-1882-8B31-55E3-68DD3AAE7498}"/>
                </a:ext>
              </a:extLst>
            </p:cNvPr>
            <p:cNvSpPr txBox="1"/>
            <p:nvPr/>
          </p:nvSpPr>
          <p:spPr>
            <a:xfrm>
              <a:off x="7632531" y="4046406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D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3DBF633-9E41-C497-787E-07D0E27F8FC6}"/>
                </a:ext>
              </a:extLst>
            </p:cNvPr>
            <p:cNvSpPr txBox="1"/>
            <p:nvPr/>
          </p:nvSpPr>
          <p:spPr>
            <a:xfrm>
              <a:off x="7632531" y="4241230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E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2B20DBA9-A57B-59DA-C4C3-5C173FBFCD35}"/>
                </a:ext>
              </a:extLst>
            </p:cNvPr>
            <p:cNvSpPr txBox="1"/>
            <p:nvPr/>
          </p:nvSpPr>
          <p:spPr>
            <a:xfrm>
              <a:off x="7632531" y="4443469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0220FCC-FBEE-2116-0636-9F21CB1F3DF4}"/>
                </a:ext>
              </a:extLst>
            </p:cNvPr>
            <p:cNvSpPr txBox="1"/>
            <p:nvPr/>
          </p:nvSpPr>
          <p:spPr>
            <a:xfrm>
              <a:off x="7632531" y="4638288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I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669323-0A80-BEB5-82FC-30426BAD64A4}"/>
                </a:ext>
              </a:extLst>
            </p:cNvPr>
            <p:cNvSpPr txBox="1"/>
            <p:nvPr/>
          </p:nvSpPr>
          <p:spPr>
            <a:xfrm>
              <a:off x="7632531" y="4824327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N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193DCBE-5543-4968-3D35-F229847271FC}"/>
                </a:ext>
              </a:extLst>
            </p:cNvPr>
            <p:cNvSpPr txBox="1"/>
            <p:nvPr/>
          </p:nvSpPr>
          <p:spPr>
            <a:xfrm>
              <a:off x="7632531" y="5020163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G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0AA5CC8-8B46-2F2F-C36C-6DDACD8A8770}"/>
                </a:ext>
              </a:extLst>
            </p:cNvPr>
            <p:cNvSpPr txBox="1"/>
            <p:nvPr/>
          </p:nvSpPr>
          <p:spPr>
            <a:xfrm>
              <a:off x="7617663" y="2191442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C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901F6F8-A5E2-D0AF-B01D-645B9B432140}"/>
                </a:ext>
              </a:extLst>
            </p:cNvPr>
            <p:cNvSpPr txBox="1"/>
            <p:nvPr/>
          </p:nvSpPr>
          <p:spPr>
            <a:xfrm>
              <a:off x="7632531" y="2386266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R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3047A7F-20B6-0252-CF22-3A2DBBE79898}"/>
                </a:ext>
              </a:extLst>
            </p:cNvPr>
            <p:cNvSpPr txBox="1"/>
            <p:nvPr/>
          </p:nvSpPr>
          <p:spPr>
            <a:xfrm>
              <a:off x="7632531" y="2588505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E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4D23F74-8EC6-7EFC-7285-5C365A9F163C}"/>
                </a:ext>
              </a:extLst>
            </p:cNvPr>
            <p:cNvSpPr txBox="1"/>
            <p:nvPr/>
          </p:nvSpPr>
          <p:spPr>
            <a:xfrm>
              <a:off x="7632531" y="2783324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A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9A4DE8E-F703-D6CB-9A6D-FA17B034F93E}"/>
                </a:ext>
              </a:extLst>
            </p:cNvPr>
            <p:cNvSpPr txBox="1"/>
            <p:nvPr/>
          </p:nvSpPr>
          <p:spPr>
            <a:xfrm>
              <a:off x="7632531" y="2969363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T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CA41FCF-BF67-955B-2DEA-6B19D4768251}"/>
                </a:ext>
              </a:extLst>
            </p:cNvPr>
            <p:cNvSpPr txBox="1"/>
            <p:nvPr/>
          </p:nvSpPr>
          <p:spPr>
            <a:xfrm>
              <a:off x="7632531" y="3165199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I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3211B9E-4322-486D-039E-F39D412393F4}"/>
                </a:ext>
              </a:extLst>
            </p:cNvPr>
            <p:cNvSpPr txBox="1"/>
            <p:nvPr/>
          </p:nvSpPr>
          <p:spPr>
            <a:xfrm>
              <a:off x="7632531" y="3349683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V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F48774A-4669-7583-3158-ED097DBB784F}"/>
                </a:ext>
              </a:extLst>
            </p:cNvPr>
            <p:cNvSpPr txBox="1"/>
            <p:nvPr/>
          </p:nvSpPr>
          <p:spPr>
            <a:xfrm>
              <a:off x="7632531" y="3550580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E</a:t>
              </a:r>
            </a:p>
          </p:txBody>
        </p:sp>
      </p:grpSp>
      <p:sp>
        <p:nvSpPr>
          <p:cNvPr id="96" name="文本框 4">
            <a:extLst>
              <a:ext uri="{FF2B5EF4-FFF2-40B4-BE49-F238E27FC236}">
                <a16:creationId xmlns:a16="http://schemas.microsoft.com/office/drawing/2014/main" id="{58C70887-358A-7BB0-3B2F-3478A39897FF}"/>
              </a:ext>
            </a:extLst>
          </p:cNvPr>
          <p:cNvSpPr txBox="1"/>
          <p:nvPr/>
        </p:nvSpPr>
        <p:spPr>
          <a:xfrm>
            <a:off x="10135528" y="1583514"/>
            <a:ext cx="1845538" cy="2446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On board test by </a:t>
            </a:r>
            <a:r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AMD Artix-7</a:t>
            </a:r>
            <a:endParaRPr kumimoji="0" lang="en-US" altLang="zh-CN" sz="1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6A6A9DE-EE1F-DE3B-4D9B-5DB6851B8FCC}"/>
              </a:ext>
            </a:extLst>
          </p:cNvPr>
          <p:cNvSpPr txBox="1"/>
          <p:nvPr/>
        </p:nvSpPr>
        <p:spPr>
          <a:xfrm>
            <a:off x="7923299" y="215790"/>
            <a:ext cx="18900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00" cap="none" spc="0" normalizeH="0" baseline="0" noProof="0">
                <a:ln>
                  <a:noFill/>
                </a:ln>
                <a:solidFill>
                  <a:srgbClr val="242021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OpenHW2025</a:t>
            </a:r>
            <a:endParaRPr kumimoji="0" lang="en-US" sz="20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BECFA5D2-FBAA-2269-5F3E-46637182BD73}"/>
              </a:ext>
            </a:extLst>
          </p:cNvPr>
          <p:cNvGrpSpPr/>
          <p:nvPr/>
        </p:nvGrpSpPr>
        <p:grpSpPr>
          <a:xfrm>
            <a:off x="8492386" y="2541522"/>
            <a:ext cx="377933" cy="1678530"/>
            <a:chOff x="8507018" y="2052136"/>
            <a:chExt cx="377933" cy="1678530"/>
          </a:xfrm>
        </p:grpSpPr>
        <p:sp>
          <p:nvSpPr>
            <p:cNvPr id="104" name="Title 1">
              <a:extLst>
                <a:ext uri="{FF2B5EF4-FFF2-40B4-BE49-F238E27FC236}">
                  <a16:creationId xmlns:a16="http://schemas.microsoft.com/office/drawing/2014/main" id="{176D8231-843A-7889-4421-9B7B8DFF9BD9}"/>
                </a:ext>
              </a:extLst>
            </p:cNvPr>
            <p:cNvSpPr txBox="1"/>
            <p:nvPr/>
          </p:nvSpPr>
          <p:spPr>
            <a:xfrm>
              <a:off x="8507018" y="2052136"/>
              <a:ext cx="377933" cy="1678530"/>
            </a:xfrm>
            <a:prstGeom prst="rect">
              <a:avLst/>
            </a:prstGeom>
            <a:solidFill>
              <a:srgbClr val="2F2F2F"/>
            </a:solidFill>
          </p:spPr>
          <p:txBody>
            <a:bodyPr vert="wordArtVert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689AD034-0A3F-198C-67B2-E5246B3C1D0A}"/>
                </a:ext>
              </a:extLst>
            </p:cNvPr>
            <p:cNvSpPr txBox="1"/>
            <p:nvPr/>
          </p:nvSpPr>
          <p:spPr>
            <a:xfrm>
              <a:off x="8555488" y="2200504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R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1473BC4-DAEF-FE59-75EA-75ACA2BDF2FB}"/>
                </a:ext>
              </a:extLst>
            </p:cNvPr>
            <p:cNvSpPr txBox="1"/>
            <p:nvPr/>
          </p:nvSpPr>
          <p:spPr>
            <a:xfrm>
              <a:off x="8555488" y="2389574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E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0D64BF7B-3463-8655-6E30-8A0F81D64811}"/>
                </a:ext>
              </a:extLst>
            </p:cNvPr>
            <p:cNvSpPr txBox="1"/>
            <p:nvPr/>
          </p:nvSpPr>
          <p:spPr>
            <a:xfrm>
              <a:off x="8555488" y="2592416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B013856C-5CCF-8A26-2A90-CABDDBFFBA73}"/>
                </a:ext>
              </a:extLst>
            </p:cNvPr>
            <p:cNvSpPr txBox="1"/>
            <p:nvPr/>
          </p:nvSpPr>
          <p:spPr>
            <a:xfrm>
              <a:off x="8555488" y="2810740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U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E074594A-1EFB-F4A4-AC89-16DCB8AD444A}"/>
                </a:ext>
              </a:extLst>
            </p:cNvPr>
            <p:cNvSpPr txBox="1"/>
            <p:nvPr/>
          </p:nvSpPr>
          <p:spPr>
            <a:xfrm>
              <a:off x="8555488" y="3017161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L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1B8A53B7-55EB-0138-C0B9-DE56866190D4}"/>
                </a:ext>
              </a:extLst>
            </p:cNvPr>
            <p:cNvSpPr txBox="1"/>
            <p:nvPr/>
          </p:nvSpPr>
          <p:spPr>
            <a:xfrm>
              <a:off x="8555488" y="3218373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T</a:t>
              </a:r>
            </a:p>
          </p:txBody>
        </p:sp>
      </p:grp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6883E84-5CF6-71E4-4525-D7CFB2F8C7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6780" y="460919"/>
            <a:ext cx="1801482" cy="101333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79EDCF8-E2F9-FDBC-770F-C72A05F174FA}"/>
              </a:ext>
            </a:extLst>
          </p:cNvPr>
          <p:cNvSpPr txBox="1"/>
          <p:nvPr/>
        </p:nvSpPr>
        <p:spPr>
          <a:xfrm>
            <a:off x="8536270" y="4438047"/>
            <a:ext cx="3505650" cy="210281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1100"/>
              <a:t>Our innovative vector processing architecture, delivers breakthrough performance in SpMM acceleration while achieving </a:t>
            </a:r>
            <a:r>
              <a:rPr lang="en-US" altLang="zh-CN" sz="1100" b="1"/>
              <a:t>scalability and power efficiency </a:t>
            </a:r>
            <a:r>
              <a:rPr lang="en-US" altLang="zh-CN" sz="1100"/>
              <a:t>that surpasses all conventional processor designs.</a:t>
            </a:r>
          </a:p>
          <a:p>
            <a:endParaRPr lang="en-US" altLang="zh-CN" sz="1100"/>
          </a:p>
          <a:p>
            <a:r>
              <a:rPr lang="en-US" altLang="zh-CN" sz="1100"/>
              <a:t>As the demands of graph neural networks and sparse computing evolve, our design’s </a:t>
            </a:r>
            <a:r>
              <a:rPr lang="en-US" altLang="zh-CN" sz="1100" b="1"/>
              <a:t>multi-level caching hierarchy and custom instructions </a:t>
            </a:r>
            <a:r>
              <a:rPr lang="en-US" altLang="zh-CN" sz="1100"/>
              <a:t>provide a </a:t>
            </a:r>
            <a:r>
              <a:rPr lang="en-US" altLang="zh-CN" sz="1100" b="1"/>
              <a:t>valuable reference </a:t>
            </a:r>
            <a:r>
              <a:rPr lang="en-US" altLang="zh-CN" sz="1100"/>
              <a:t>for next-generation AI workloads.</a:t>
            </a: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617FAB33-2EF1-9416-0A48-E8F7DF225D8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50219" y="3236423"/>
            <a:ext cx="2016441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System Architecture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5" name="矩形: 圆角 11">
            <a:extLst>
              <a:ext uri="{FF2B5EF4-FFF2-40B4-BE49-F238E27FC236}">
                <a16:creationId xmlns:a16="http://schemas.microsoft.com/office/drawing/2014/main" id="{60DAD9AF-320E-851F-198B-7DA4B952BA50}"/>
              </a:ext>
            </a:extLst>
          </p:cNvPr>
          <p:cNvSpPr/>
          <p:nvPr/>
        </p:nvSpPr>
        <p:spPr>
          <a:xfrm>
            <a:off x="4221666" y="3617179"/>
            <a:ext cx="3407082" cy="3080926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indent="-171450">
              <a:lnSpc>
                <a:spcPct val="100000"/>
              </a:lnSpc>
              <a:buClrTx/>
              <a:buSzPct val="90000"/>
              <a:buFont typeface="Wingdings" panose="05000000000000000000" pitchFamily="2" charset="2"/>
              <a:buChar char="«"/>
              <a:tabLst/>
              <a:defRPr/>
            </a:pPr>
            <a:endParaRPr lang="en-US" altLang="zh-CN" sz="1100" b="1">
              <a:solidFill>
                <a:schemeClr val="tx1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171450" marR="0" indent="-171450">
              <a:lnSpc>
                <a:spcPct val="100000"/>
              </a:lnSpc>
              <a:buClrTx/>
              <a:buSzPct val="90000"/>
              <a:buFont typeface="Wingdings" panose="05000000000000000000" pitchFamily="2" charset="2"/>
              <a:buChar char="«"/>
              <a:tabLst/>
              <a:defRPr/>
            </a:pPr>
            <a:endParaRPr lang="en-US" altLang="zh-CN" sz="1100" b="1">
              <a:solidFill>
                <a:schemeClr val="tx1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171450" marR="0" indent="-171450">
              <a:lnSpc>
                <a:spcPct val="100000"/>
              </a:lnSpc>
              <a:buClrTx/>
              <a:buSzPct val="90000"/>
              <a:buFont typeface="Wingdings" panose="05000000000000000000" pitchFamily="2" charset="2"/>
              <a:buChar char="«"/>
              <a:tabLst/>
              <a:defRPr/>
            </a:pPr>
            <a:r>
              <a:rPr lang="en-US" altLang="zh-CN" sz="1100" b="1">
                <a:solidFill>
                  <a:schemeClr val="tx1"/>
                </a:solidFill>
                <a:latin typeface="Calibri" panose="020F0502020204030204"/>
                <a:ea typeface="等线" panose="02010600030101010101" pitchFamily="2" charset="-122"/>
              </a:rPr>
              <a:t>Custom RISC-V Vector Extension: </a:t>
            </a:r>
            <a:r>
              <a:rPr lang="en-US" altLang="zh-CN" sz="1100">
                <a:solidFill>
                  <a:schemeClr val="tx1"/>
                </a:solidFill>
                <a:latin typeface="Calibri" panose="020F0502020204030204"/>
                <a:ea typeface="等线" panose="02010600030101010101" pitchFamily="2" charset="-122"/>
              </a:rPr>
              <a:t>8 new SpMM instructions for efficient sparse matrix computation. </a:t>
            </a:r>
          </a:p>
          <a:p>
            <a:pPr marL="171450" lvl="0" indent="-171450">
              <a:buSzPct val="90000"/>
              <a:buFont typeface="Wingdings" panose="05000000000000000000" pitchFamily="2" charset="2"/>
              <a:buChar char="«"/>
              <a:defRPr/>
            </a:pPr>
            <a:r>
              <a:rPr kumimoji="0" lang="en-US" altLang="zh-CN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Power-Law Optimized Cache: </a:t>
            </a:r>
            <a:r>
              <a:rPr kumimoji="0" lang="en-US" altLang="zh-CN" sz="11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Developed fixed-row caching in VRF that achieves &gt;50% hit rate for hub nodes in power-law graphs.</a:t>
            </a:r>
          </a:p>
          <a:p>
            <a:pPr marL="171450" lvl="0" indent="-171450">
              <a:buSzPct val="90000"/>
              <a:buFont typeface="Wingdings" panose="05000000000000000000" pitchFamily="2" charset="2"/>
              <a:buChar char="«"/>
              <a:defRPr/>
            </a:pPr>
            <a:r>
              <a:rPr kumimoji="0" lang="en-US" altLang="zh-CN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Dual-Issue Parallelism: </a:t>
            </a:r>
            <a:r>
              <a:rPr kumimoji="0" lang="en-US" altLang="zh-CN" sz="11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Enabled simultaneous computation and data loading.</a:t>
            </a:r>
          </a:p>
          <a:p>
            <a:pPr marL="171450" lvl="0" indent="-171450">
              <a:buSzPct val="90000"/>
              <a:buFont typeface="Wingdings" panose="05000000000000000000" pitchFamily="2" charset="2"/>
              <a:buChar char="«"/>
              <a:defRPr/>
            </a:pPr>
            <a:r>
              <a:rPr kumimoji="0" lang="en-US" altLang="zh-CN" sz="11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Hardware Prefetching</a:t>
            </a:r>
            <a:r>
              <a:rPr kumimoji="0" lang="en-US" altLang="zh-CN" sz="11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: DMA controller prefetches sparse data during computation to hide memory latency.</a:t>
            </a:r>
          </a:p>
          <a:p>
            <a:pPr marL="171450" lvl="0" indent="-171450">
              <a:buSzPct val="90000"/>
              <a:buFont typeface="Wingdings" panose="05000000000000000000" pitchFamily="2" charset="2"/>
              <a:buChar char="«"/>
              <a:defRPr/>
            </a:pPr>
            <a:r>
              <a:rPr kumimoji="0" lang="en-US" altLang="zh-CN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Customized Data Access: </a:t>
            </a:r>
            <a:r>
              <a:rPr kumimoji="0" lang="en-US" altLang="zh-CN" sz="11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DMA for sparse matrix data and VLSU for dense feature data, each optimized for their specific access patterns.</a:t>
            </a:r>
            <a:endParaRPr kumimoji="0" lang="en-US" altLang="zh-CN" sz="11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7DB08E7-FAEC-3B89-C14D-C87F2F8DEA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5" t="16973" r="4503" b="12437"/>
          <a:stretch>
            <a:fillRect/>
          </a:stretch>
        </p:blipFill>
        <p:spPr>
          <a:xfrm>
            <a:off x="9871194" y="304982"/>
            <a:ext cx="2255397" cy="124495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157E1B3-3B68-BFD6-95DD-CBB6B5E745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3486" y="910167"/>
            <a:ext cx="3561988" cy="2330655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A89BED3-CF99-A23E-06E8-A1F59E6F399C}"/>
              </a:ext>
            </a:extLst>
          </p:cNvPr>
          <p:cNvCxnSpPr>
            <a:cxnSpLocks/>
          </p:cNvCxnSpPr>
          <p:nvPr/>
        </p:nvCxnSpPr>
        <p:spPr>
          <a:xfrm>
            <a:off x="7020560" y="0"/>
            <a:ext cx="1188791" cy="1927842"/>
          </a:xfrm>
          <a:prstGeom prst="line">
            <a:avLst/>
          </a:prstGeom>
          <a:ln w="22225" cmpd="sng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98675346-8E76-063D-F5D6-50FDD48C12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80044" y="2640014"/>
            <a:ext cx="1849026" cy="1216556"/>
          </a:xfrm>
          <a:prstGeom prst="rect">
            <a:avLst/>
          </a:prstGeom>
        </p:spPr>
      </p:pic>
      <p:sp>
        <p:nvSpPr>
          <p:cNvPr id="29" name="文本框 4">
            <a:extLst>
              <a:ext uri="{FF2B5EF4-FFF2-40B4-BE49-F238E27FC236}">
                <a16:creationId xmlns:a16="http://schemas.microsoft.com/office/drawing/2014/main" id="{CC295CBF-24F1-FBDC-E988-99A8682AD86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27339" y="3848244"/>
            <a:ext cx="2695575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Graph and Power Law Distribution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0" name="文本框 4">
            <a:extLst>
              <a:ext uri="{FF2B5EF4-FFF2-40B4-BE49-F238E27FC236}">
                <a16:creationId xmlns:a16="http://schemas.microsoft.com/office/drawing/2014/main" id="{A813A78F-0DE6-0F99-49EF-215323E88C5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57154" y="3810990"/>
            <a:ext cx="2646570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 defTabSz="4572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defRPr/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Highlights &amp; Innovations</a:t>
            </a:r>
          </a:p>
        </p:txBody>
      </p:sp>
      <p:pic>
        <p:nvPicPr>
          <p:cNvPr id="1026" name="Picture 2" descr="An illustration of a search on a power-law graph. Starting at a node... |  Download Scientific Diagram">
            <a:extLst>
              <a:ext uri="{FF2B5EF4-FFF2-40B4-BE49-F238E27FC236}">
                <a16:creationId xmlns:a16="http://schemas.microsoft.com/office/drawing/2014/main" id="{57C139CA-26AD-CE9F-1F00-76C54F39F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56" y="2648341"/>
            <a:ext cx="1472072" cy="1122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767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4523dde-f9d1-4aa7-80a9-c0900420d3c3}" enabled="1" method="Privileged" siteId="{3dd8961f-e488-4e60-8e11-a82d994e18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390</Words>
  <Application>Microsoft Office PowerPoint</Application>
  <PresentationFormat>宽屏</PresentationFormat>
  <Paragraphs>52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Calibri </vt:lpstr>
      <vt:lpstr>等线</vt:lpstr>
      <vt:lpstr>微软雅黑</vt:lpstr>
      <vt:lpstr>Aharoni</vt:lpstr>
      <vt:lpstr>Aptos</vt:lpstr>
      <vt:lpstr>Aptos Display</vt:lpstr>
      <vt:lpstr>Arial</vt:lpstr>
      <vt:lpstr>Calibri</vt:lpstr>
      <vt:lpstr>Calibri Light</vt:lpstr>
      <vt:lpstr>Times New Roman</vt:lpstr>
      <vt:lpstr>Wingdings</vt:lpstr>
      <vt:lpstr>Office Theme</vt:lpstr>
      <vt:lpstr>1_Office Theme</vt:lpstr>
      <vt:lpstr>INTRODUCTION</vt:lpstr>
    </vt:vector>
  </TitlesOfParts>
  <Company>AMD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Wen (Vicky)</dc:creator>
  <cp:lastModifiedBy>Brandon Lee</cp:lastModifiedBy>
  <cp:revision>25</cp:revision>
  <dcterms:created xsi:type="dcterms:W3CDTF">2024-09-09T08:07:06Z</dcterms:created>
  <dcterms:modified xsi:type="dcterms:W3CDTF">2025-11-07T06:12:53Z</dcterms:modified>
</cp:coreProperties>
</file>