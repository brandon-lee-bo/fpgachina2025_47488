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1" r:id="rId2"/>
    <p:sldId id="262" r:id="rId3"/>
    <p:sldId id="264" r:id="rId4"/>
    <p:sldId id="268" r:id="rId5"/>
    <p:sldId id="271" r:id="rId6"/>
    <p:sldId id="273" r:id="rId7"/>
    <p:sldId id="275" r:id="rId8"/>
    <p:sldId id="279" r:id="rId9"/>
    <p:sldId id="287" r:id="rId10"/>
    <p:sldId id="291" r:id="rId11"/>
    <p:sldId id="288" r:id="rId12"/>
    <p:sldId id="289" r:id="rId13"/>
    <p:sldId id="290" r:id="rId14"/>
    <p:sldId id="284" r:id="rId15"/>
    <p:sldId id="281" r:id="rId16"/>
    <p:sldId id="285" r:id="rId17"/>
    <p:sldId id="286" r:id="rId18"/>
    <p:sldId id="27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18B4"/>
    <a:srgbClr val="C7CA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7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D3232-3CA5-4B01-A51F-E7A6320199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E0B91-CC2E-43BB-B365-D779641994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449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6264F-A6E4-967C-C01B-481B34F9F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78B9DD-C70E-8007-F038-E2EC70538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71D9CB-2EC7-D1F8-CDDA-0E41A1F0B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1C1B31-2C96-98FF-85D3-5207E2419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6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2EF7-7A74-F4A3-59D0-E0FF1B72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258C53-465B-149F-6080-563106E3C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7F2469-7074-92FB-5356-4786BE4DF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568782-77FF-94B7-8ADB-7CD736756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684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DFE6-8491-3248-3193-97D7DBD1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4858CA-5278-57E9-0E28-713DE533D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DF35F7-B401-893F-51D7-27CE0301C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图数据有节点和边构成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AF1151-93EF-9A99-994C-8C54A1327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689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C903B-1875-8AEE-6DAC-9D318E19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DB5277-3B90-3CC6-3E04-389E47667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01CBC4-9BDF-7E8E-C158-9722A057F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介绍算法。图数据表征为矩阵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8902DB-42CD-DA10-9861-7F69FF63C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619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2987-EC14-CBEE-5C0E-F6FAF701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D08D67-AAA6-9B29-159D-FF92E90E2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01B8D2-F818-4F68-0271-457C497E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现有的算法的劣势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5CD682-E89F-B0C0-DE8A-42E087994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448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50C92-A3DD-F9B1-D009-AD1A4EAE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90E1E0-BCC7-5E83-E273-CC6DAFDB1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47B762-9B95-4C3D-187D-4E4CD6643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传统加速器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021716-FC77-B2F5-E8D3-B7E788377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960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5BB4-234D-D39A-007E-962B52A8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6B9827-9A6A-4253-F100-4D1D050AF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38F945-4C57-332C-BC3B-71C74BA5F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DFD5BF-F463-47A9-4986-2617DF39F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975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9C897-57AD-27B6-EC33-E1605B02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5901EA-535C-4CF7-CCFF-A9E77A254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57E4AF-3BBD-B71A-FCE0-333EE3E69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82D6F1-31E5-E8C1-D915-7A89FA2DC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150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037AD-AD4B-27AC-B004-54C1C7E7F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BC3278-C5E5-AFCB-0AA4-4641258AF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CDF623-B5C2-00C5-A11F-A0E14B792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4E340F-71C8-59C3-CBA5-17953EA4D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41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C0B7-2253-5EB8-2D7E-EB4E939A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70A1D0-CD67-54C0-2E0A-82112660A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AF3288-F703-3105-B205-295F78EEC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67A9B2-BD48-E415-DD2D-F98439206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068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D46A-9C89-1D8E-C66F-EC61E5C61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438614-5AA4-EA69-A50F-E37C313F9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921D36-983B-9158-F26E-4373CC763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D023AC-7382-840A-1305-A6500A82D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747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CF4E-B096-6AE9-2A9E-A4D85EFA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C4DB39-D722-FE97-D752-D994AC4D5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843AAE-5D15-9F2A-6D69-6809330F3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64B14A-2210-5A41-D625-8159731CC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416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43EB8-DCE2-6F86-6C16-046F05FE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2FCFE1-4CB6-0FCB-ABD2-364EEE2BD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558327-B181-CF1F-6758-BA776933E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78E9FD-CF80-B64A-F698-4D3F3B548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145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323EA-46F7-A45D-1C91-FFFE1CAF4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6CD2D2-477D-5080-5929-FDE06A6AA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AFDF76-7742-4A19-C625-2C4964C0F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01958-673A-3490-6C61-33D727D77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239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406E4-A5CA-B147-6D8E-3550EFCE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12C2B9-F6CC-4062-5475-045207600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1A11BF-A164-25CA-D87B-F98765CE1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6D584E-72C0-86D8-30BF-67A6CB354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783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ADFC1-5471-093F-B07B-07B001B1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CCF6AA-A542-FDCD-00DC-8DA7DCE1D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5F2F9F-FE99-EF90-E3B2-B362614EA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C7ED71-FA5F-E947-2811-C303BA9BE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8725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1C444-3E28-1D77-B8D7-ACB0A042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7D239E-FC29-9220-D7E3-F0697F959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B2A4ED-B3D2-8282-71B5-2B26AC4AB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49C767-B759-C6A0-D31C-2DB6D424C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7083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9698-DECE-9B0E-C406-D27891A1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90E36B-64E7-4373-20D2-192BE02BB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BBAADD-E0F3-5A1B-694D-174BB9392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EE1048-DFB1-2926-0CE1-923E6F0C9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98569-A1B3-4639-A9C3-8042AF452E4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049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1E22A-E1C8-BCFD-6E12-E8AA006B5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9B9465-0C28-0B08-D512-3F9355340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7A2B61-3D23-CBF7-D770-7FCFB99EC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D1D22D-1DD2-205B-7032-69256BEF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370B0-2B66-2326-C96E-46F634724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198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2CB50-474E-B02F-0973-D2093AB3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E4E6EE-460F-ACE1-8C5E-B7A6C4AF0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40AEB6-6848-8130-A302-7FECE48D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52065F-4F86-5D05-34C3-472BAC4B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9AA69C-2ED6-81AA-0660-14D83A8F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8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20777-CE70-16CF-1A23-9AF6F965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A409A9-3504-B1C4-BF40-5C08EF704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4A9B1-5FA5-B6D9-99C0-C112BA23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26CEBB-A3A5-D545-9DF3-1919D181D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34BFDE-2378-D929-6934-23A2B5CE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2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1BC51-8164-8261-D681-E05C8C4B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8B1388-9900-1AED-88A1-890A4C328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C88A2A-D081-9063-369D-DEE37A03D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AAFD2A-12EC-9ADC-E09E-D55CC259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A483C1-F9D8-AC3D-CBDC-3362899B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6D87FB-123A-3116-8737-3DCBB687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19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D408F-89CD-6C9B-7A48-0FB74E0D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1CA080-F9F8-A866-5926-4BD833F8D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276F04-6475-7B8D-C1D9-346206FCD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034FC6-3EF9-F436-B64F-448B939DB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071127-197A-0C36-8724-34279ADE4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05643F-E8AB-1C08-7216-458DB70C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C17CF5-D689-14F0-717E-B82EFDF56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AE699C-3E29-B018-3CE9-62A3CF3CC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96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2A075-D64C-35C3-50FD-641407666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980719-4F11-01FE-084A-AAC62FF7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E238B3-6EC7-F633-D3C9-88B89741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352113-35C9-046E-B541-7A528500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594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932D0C-117F-F1C4-8740-40707600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07065A-9F32-5C79-8BBD-E8909472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46E944-87CD-37C8-B9A7-E9D8114A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34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703A9-730B-CFC2-262E-DBC0A339B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11E2E7-BB55-78B3-A207-CF41414F1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B97872-BC86-81B8-7F1C-EB8689596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246FCD-4F08-7EFF-36CF-DBD07E44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06698E-D9A5-6549-BEC0-835BC20CC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6E75E-6DFA-5AAB-17D3-978F729C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85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BB1FC-A51B-AEA9-31BF-C2986C2B3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AD7E53-1D54-D506-C6B2-FC3EFB081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626FDA-406D-A4A6-CF6B-809B0EB26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7E9790-BB7F-C6B6-8228-784D108A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AF5947-2BB1-D7E1-26F1-8C4AF8CA8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E39572-7448-558E-3A13-9067627D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36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BC86C-4D12-270E-DA60-471F0F183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48A927-2ED4-92C6-37AB-F9E870B91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1AF46B-30D2-2415-400C-C102E67D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09F4E-145C-85C3-9974-B2BD42FD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A7BE07-943B-51A2-4C0E-BF115F12B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37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5E2E80-3DB5-3440-7549-D9E69DF8D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2E4442-7219-ABBF-3786-D3FE38E1D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BDB43-F1AD-62DB-E314-6D6A949E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5669B-F590-A4C1-3BC7-31D096F34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C7EF7E-3A4A-6A34-FB5E-6E64184C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08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BD0895-D5DC-2067-1E42-FFE61BBDA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0657F8-7BE5-5E4F-3CEA-5F9390E3B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632F3-BE5B-2C22-D063-D6D1BE4BC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56136-0DD1-4C0A-86A1-F03277BD38D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8C4A38-76CD-D8A4-7915-A54225FD2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69590-CE8A-2C80-4D7F-2EFC24830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B1D90-1A78-412E-B542-518249C65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74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3A09-6AD6-F4DD-AA8A-596ACE63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87CAE9E-09B3-9551-4EEA-F9785678FBE2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2FE23A-FC4D-AA3F-CF36-405ED711D401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C9F0F4-CDB2-7506-EF2F-BBCDF3A4ECBD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376907-AABC-2C26-0B0D-E72292DE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252641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22C593-3204-8D65-98C6-1B2FCDD23B55}"/>
              </a:ext>
            </a:extLst>
          </p:cNvPr>
          <p:cNvSpPr/>
          <p:nvPr/>
        </p:nvSpPr>
        <p:spPr>
          <a:xfrm>
            <a:off x="1132375" y="2913198"/>
            <a:ext cx="10308045" cy="838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36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基于</a:t>
            </a:r>
            <a:r>
              <a:rPr lang="en-US" altLang="zh-CN" sz="36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RISC-V</a:t>
            </a:r>
            <a:r>
              <a:rPr lang="zh-CN" altLang="zh-CN" sz="36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指令的面向</a:t>
            </a:r>
            <a:r>
              <a:rPr lang="en-US" altLang="zh-CN" sz="36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GNN</a:t>
            </a:r>
            <a:r>
              <a:rPr lang="zh-CN" altLang="zh-CN" sz="36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的</a:t>
            </a:r>
            <a:r>
              <a:rPr lang="en-US" altLang="zh-CN" sz="36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SpMM</a:t>
            </a:r>
            <a:r>
              <a:rPr lang="zh-CN" altLang="zh-CN" sz="36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向量处理器</a:t>
            </a:r>
            <a:endParaRPr lang="zh-CN" altLang="en-US" sz="3600" b="1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3756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57435-764E-BE5A-2627-10E0E9E04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393C109-5683-9AA3-36C4-0B0F1A3FB76C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CF2D2-DFE4-B1DF-0264-F056E7545553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296C0F-66A8-D085-6252-2D1526883B4B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7A90F1-F03D-3782-AE43-9F2918B6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252641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2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26A1B5A-9107-B2B4-D90A-658621A0E19A}"/>
              </a:ext>
            </a:extLst>
          </p:cNvPr>
          <p:cNvGrpSpPr/>
          <p:nvPr/>
        </p:nvGrpSpPr>
        <p:grpSpPr>
          <a:xfrm>
            <a:off x="3112555" y="1880528"/>
            <a:ext cx="6857281" cy="2902449"/>
            <a:chOff x="3229693" y="1966253"/>
            <a:chExt cx="6857281" cy="290244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8AD6FD0-C74C-609D-22EF-07FD6D6B9C6D}"/>
                </a:ext>
              </a:extLst>
            </p:cNvPr>
            <p:cNvSpPr/>
            <p:nvPr/>
          </p:nvSpPr>
          <p:spPr>
            <a:xfrm>
              <a:off x="3229693" y="2635462"/>
              <a:ext cx="6857281" cy="223324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200" b="1" cap="none" spc="0" dirty="0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2.Gnn</a:t>
              </a:r>
              <a:r>
                <a:rPr lang="zh-CN" altLang="en-US" sz="3200" b="1" cap="none" spc="0" dirty="0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加速，矩阵算法加速</a:t>
              </a:r>
              <a:endParaRPr lang="en-US" altLang="zh-CN" sz="3200" b="1" cap="none" spc="0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b="1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3.</a:t>
              </a:r>
              <a:r>
                <a:rPr lang="zh-CN" altLang="en-US" sz="3200" b="1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作品介绍</a:t>
              </a:r>
              <a:endParaRPr lang="en-US" altLang="zh-CN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b="1" cap="none" spc="0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4.</a:t>
              </a:r>
              <a:r>
                <a:rPr lang="zh-CN" altLang="en-US" sz="3200" b="1" cap="none" spc="0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性能优化</a:t>
              </a:r>
              <a:endParaRPr lang="zh-CN" altLang="en-US" sz="3200" b="1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011E580-7FCF-8898-BD47-DC241CF44037}"/>
                </a:ext>
              </a:extLst>
            </p:cNvPr>
            <p:cNvSpPr/>
            <p:nvPr/>
          </p:nvSpPr>
          <p:spPr>
            <a:xfrm>
              <a:off x="3229693" y="1966253"/>
              <a:ext cx="6562979" cy="75591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200" b="1" dirty="0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1.</a:t>
              </a:r>
              <a:r>
                <a:rPr lang="zh-CN" altLang="en-US" sz="3200" b="1" dirty="0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背景介绍（应用场景</a:t>
              </a:r>
              <a:r>
                <a:rPr lang="en-US" altLang="zh-CN" sz="3200" b="1" dirty="0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, GNN</a:t>
              </a:r>
              <a:r>
                <a:rPr lang="zh-CN" altLang="en-US" sz="3200" b="1" dirty="0">
                  <a:ln w="0"/>
                  <a:solidFill>
                    <a:srgbClr val="B818B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介绍）</a:t>
              </a:r>
              <a:endParaRPr lang="en-US" altLang="zh-CN" sz="32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4634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3AEE-DA3E-2DB0-32D4-CF471906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7042E5D1-4F1A-84C7-481E-3C40E00F7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217" y="1003661"/>
            <a:ext cx="5290833" cy="504918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036DF67-2724-C3FC-56F4-3F5A976AE243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0DDFE6-0EBB-C257-8693-B30DFAC311DF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8C46C6-E754-012E-DC8E-DD580E56E1F0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2EBBE3E-1C90-DBE5-3823-B50443CC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252641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3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FD7EA72-1A8E-AA3A-7584-B5314B6DDA7B}"/>
              </a:ext>
            </a:extLst>
          </p:cNvPr>
          <p:cNvCxnSpPr>
            <a:cxnSpLocks/>
          </p:cNvCxnSpPr>
          <p:nvPr/>
        </p:nvCxnSpPr>
        <p:spPr>
          <a:xfrm flipV="1">
            <a:off x="6920630" y="2099889"/>
            <a:ext cx="876776" cy="430369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39CC668-D4D9-93DF-3ADE-77ECF8A6D9FC}"/>
              </a:ext>
            </a:extLst>
          </p:cNvPr>
          <p:cNvCxnSpPr>
            <a:cxnSpLocks/>
          </p:cNvCxnSpPr>
          <p:nvPr/>
        </p:nvCxnSpPr>
        <p:spPr>
          <a:xfrm flipV="1">
            <a:off x="7415703" y="3447121"/>
            <a:ext cx="973829" cy="295398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77CA104-0DBE-D9C0-BA87-EB57AC19BC48}"/>
              </a:ext>
            </a:extLst>
          </p:cNvPr>
          <p:cNvSpPr txBox="1"/>
          <p:nvPr/>
        </p:nvSpPr>
        <p:spPr>
          <a:xfrm>
            <a:off x="7659113" y="1816982"/>
            <a:ext cx="842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节点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BF22F4-A1B6-DBB6-5A00-E9FE979A2293}"/>
              </a:ext>
            </a:extLst>
          </p:cNvPr>
          <p:cNvSpPr txBox="1"/>
          <p:nvPr/>
        </p:nvSpPr>
        <p:spPr>
          <a:xfrm>
            <a:off x="8383795" y="3243122"/>
            <a:ext cx="50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边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6BBB2B-6561-8FAC-F352-ECA1805384FD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背景介绍（应用场景</a:t>
            </a:r>
            <a:r>
              <a:rPr lang="en-US" altLang="zh-CN" sz="32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GNN</a:t>
            </a:r>
            <a:r>
              <a:rPr lang="zh-CN" altLang="en-US" sz="32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介绍）</a:t>
            </a:r>
            <a:endParaRPr lang="en-US" altLang="zh-CN" sz="3200" b="1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8414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59D07-A96E-E499-550B-275FBAA1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58F51C-6CD6-4589-4AF3-3C93BD6F034E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22E063-9518-FAB1-3B36-0420CB4F7E25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AD12AC-4DC3-D025-B009-571800B377EF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734202-4E17-041D-A32E-3393C1C5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365931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4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A6DECA5-E9DF-FDDD-AC67-EE3482B11C83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背景介绍（应用场景</a:t>
            </a:r>
            <a:r>
              <a:rPr lang="en-US" altLang="zh-CN" sz="32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GNN</a:t>
            </a:r>
            <a:r>
              <a:rPr lang="zh-CN" altLang="en-US" sz="32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介绍）</a:t>
            </a:r>
            <a:endParaRPr lang="en-US" altLang="zh-CN" sz="3200" b="1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A394DC3-088E-EC2B-FEA0-0D9133B61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789" y="4885660"/>
            <a:ext cx="3830515" cy="93547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3A7466C-1E80-D054-EF80-26F29A1AB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9335" y="4258345"/>
            <a:ext cx="322276" cy="470350"/>
          </a:xfrm>
          <a:prstGeom prst="rect">
            <a:avLst/>
          </a:prstGeom>
        </p:spPr>
      </p:pic>
      <p:sp>
        <p:nvSpPr>
          <p:cNvPr id="18" name="AutoShape 4" descr="Dense Graph - GeeksforGeeks">
            <a:extLst>
              <a:ext uri="{FF2B5EF4-FFF2-40B4-BE49-F238E27FC236}">
                <a16:creationId xmlns:a16="http://schemas.microsoft.com/office/drawing/2014/main" id="{F61ADE90-A2AB-F328-C453-DB59C7156C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7600" y="323456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6283D71-E49C-CE6C-7CDC-F301011F0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341" y="4339144"/>
            <a:ext cx="283545" cy="31635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8BD2886-0B6B-3B8C-1D59-34CD66639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845" y="2421040"/>
            <a:ext cx="1733605" cy="176474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94EC0771-CAFB-A184-F34E-09166D6493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1402" y="4339144"/>
            <a:ext cx="372391" cy="316352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2470078F-DD81-817A-B5D4-BCC0ABCDB004}"/>
              </a:ext>
            </a:extLst>
          </p:cNvPr>
          <p:cNvSpPr txBox="1"/>
          <p:nvPr/>
        </p:nvSpPr>
        <p:spPr>
          <a:xfrm>
            <a:off x="5214248" y="3019381"/>
            <a:ext cx="30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*</a:t>
            </a:r>
            <a:endParaRPr lang="zh-CN" altLang="en-US" sz="32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6757BF0-90A2-C038-465E-BA07EB379650}"/>
              </a:ext>
            </a:extLst>
          </p:cNvPr>
          <p:cNvSpPr txBox="1"/>
          <p:nvPr/>
        </p:nvSpPr>
        <p:spPr>
          <a:xfrm>
            <a:off x="8145408" y="3019381"/>
            <a:ext cx="30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*</a:t>
            </a:r>
            <a:endParaRPr lang="zh-CN" altLang="en-US" sz="3200" b="1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F707420-974C-C924-7D47-FFA8DC6682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1263" y="2194638"/>
            <a:ext cx="2644157" cy="214930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DB6641E-F230-5059-9A75-0EA9AD33A2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632" y="2532123"/>
            <a:ext cx="4208105" cy="161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28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33124-0561-F512-DCD1-C53A4541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4BE986B-B61B-CF4F-980A-176C8368003C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54D3A0-2899-F0B2-E3B5-985A0B3701B1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0C6342-E0D2-4EAF-50F7-A6ADC6741C58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CF6B05-EB53-9A6C-7495-E56602AD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18010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5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7F7036-87E1-88F3-DEBB-DA26FD489E9F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cap="none" spc="0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2.Gnn</a:t>
            </a:r>
            <a:r>
              <a:rPr lang="zh-CN" altLang="en-US" sz="3200" b="1" cap="none" spc="0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加速，矩阵算法加速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8D00CEA-69E2-7C5E-8AD0-103AD039F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208" y="4816158"/>
            <a:ext cx="322276" cy="4703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3C57958-28B3-F7A5-5479-D7C17F52A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30" y="3718713"/>
            <a:ext cx="4484815" cy="2007738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EEDC426-C497-A7E4-9245-C70156DB3FD9}"/>
              </a:ext>
            </a:extLst>
          </p:cNvPr>
          <p:cNvSpPr txBox="1"/>
          <p:nvPr/>
        </p:nvSpPr>
        <p:spPr>
          <a:xfrm>
            <a:off x="7607017" y="4816158"/>
            <a:ext cx="4291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邻接矩阵</a:t>
            </a:r>
            <a:r>
              <a:rPr lang="zh-CN" altLang="en-US" sz="2000" b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相当稀疏且具有幂律特性</a:t>
            </a:r>
            <a:endParaRPr lang="zh-CN" altLang="en-US" sz="2000" b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AAEB80-BE02-C8C1-03B9-1AE77AB485D3}"/>
              </a:ext>
            </a:extLst>
          </p:cNvPr>
          <p:cNvSpPr txBox="1"/>
          <p:nvPr/>
        </p:nvSpPr>
        <p:spPr>
          <a:xfrm>
            <a:off x="7252018" y="5396909"/>
            <a:ext cx="3625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造成处理器计算效率低下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9577E9B5-E2CD-3CA9-FF40-04F566E90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300" y="748413"/>
            <a:ext cx="3374981" cy="2987359"/>
          </a:xfrm>
          <a:prstGeom prst="rect">
            <a:avLst/>
          </a:prstGeom>
        </p:spPr>
      </p:pic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7D08092-8B4C-8195-FED0-0B33CA2F80C0}"/>
              </a:ext>
            </a:extLst>
          </p:cNvPr>
          <p:cNvCxnSpPr>
            <a:cxnSpLocks/>
          </p:cNvCxnSpPr>
          <p:nvPr/>
        </p:nvCxnSpPr>
        <p:spPr>
          <a:xfrm>
            <a:off x="5329825" y="2511633"/>
            <a:ext cx="1547609" cy="0"/>
          </a:xfrm>
          <a:prstGeom prst="straightConnector1">
            <a:avLst/>
          </a:prstGeom>
          <a:ln w="44450">
            <a:solidFill>
              <a:srgbClr val="B818B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12E9662-15FE-FB89-E580-CFF80414CFA9}"/>
              </a:ext>
            </a:extLst>
          </p:cNvPr>
          <p:cNvSpPr/>
          <p:nvPr/>
        </p:nvSpPr>
        <p:spPr>
          <a:xfrm>
            <a:off x="7040433" y="4552604"/>
            <a:ext cx="4930741" cy="1602139"/>
          </a:xfrm>
          <a:prstGeom prst="roundRect">
            <a:avLst/>
          </a:prstGeom>
          <a:noFill/>
          <a:ln w="31750">
            <a:solidFill>
              <a:srgbClr val="B81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7DF092B-CEB8-84DD-0179-E9BA13A4F532}"/>
              </a:ext>
            </a:extLst>
          </p:cNvPr>
          <p:cNvCxnSpPr>
            <a:cxnSpLocks/>
          </p:cNvCxnSpPr>
          <p:nvPr/>
        </p:nvCxnSpPr>
        <p:spPr>
          <a:xfrm>
            <a:off x="8932114" y="4043253"/>
            <a:ext cx="0" cy="434767"/>
          </a:xfrm>
          <a:prstGeom prst="straightConnector1">
            <a:avLst/>
          </a:prstGeom>
          <a:ln w="44450">
            <a:solidFill>
              <a:srgbClr val="B818B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C0B10444-7A4D-2677-6E27-282669A3904A}"/>
              </a:ext>
            </a:extLst>
          </p:cNvPr>
          <p:cNvSpPr txBox="1"/>
          <p:nvPr/>
        </p:nvSpPr>
        <p:spPr>
          <a:xfrm>
            <a:off x="8461549" y="3617186"/>
            <a:ext cx="118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矩阵内积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FBF5BAE1-44D1-8028-3407-91D8EC333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07" y="5808404"/>
            <a:ext cx="322276" cy="47035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682BE59E-F831-3B71-7B39-163BC78C3D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152" y="1468627"/>
            <a:ext cx="4174538" cy="21315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515339C-71DF-1EBC-BC92-5C25540A2B14}"/>
              </a:ext>
            </a:extLst>
          </p:cNvPr>
          <p:cNvSpPr txBox="1"/>
          <p:nvPr/>
        </p:nvSpPr>
        <p:spPr>
          <a:xfrm>
            <a:off x="2987653" y="5813645"/>
            <a:ext cx="1533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邻接矩阵</a:t>
            </a:r>
          </a:p>
        </p:txBody>
      </p:sp>
    </p:spTree>
    <p:extLst>
      <p:ext uri="{BB962C8B-B14F-4D97-AF65-F5344CB8AC3E}">
        <p14:creationId xmlns:p14="http://schemas.microsoft.com/office/powerpoint/2010/main" val="2771219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FD293-2C84-D297-5C97-2BAB32FD8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AD07613-762E-3C75-BE95-A6E346A0E599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98A2D4-0CEE-5748-A3D4-0DAB132A161E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7FAF9B-4530-CA4A-856B-451FEFDF69CB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D1BB62-CD30-29AB-F62A-05845052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18010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6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868B57-24AD-B5A8-398B-9EE8C45BACD7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cap="none" spc="0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2.Gnn</a:t>
            </a:r>
            <a:r>
              <a:rPr lang="zh-CN" altLang="en-US" sz="3200" b="1" cap="none" spc="0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加速，矩阵算法加速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CE951A-B736-11D7-2988-C51877B95011}"/>
              </a:ext>
            </a:extLst>
          </p:cNvPr>
          <p:cNvSpPr txBox="1"/>
          <p:nvPr/>
        </p:nvSpPr>
        <p:spPr>
          <a:xfrm>
            <a:off x="7345894" y="2644189"/>
            <a:ext cx="36258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处理器计算效率低</a:t>
            </a:r>
            <a:endParaRPr lang="en-US" altLang="zh-CN" sz="2400" b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sz="24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芯片资源利用率低</a:t>
            </a:r>
            <a:endParaRPr lang="en-US" altLang="zh-CN" sz="2400" b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400" b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…</a:t>
            </a:r>
            <a:endParaRPr lang="zh-CN" altLang="en-US" sz="2400" b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122A78-E9E4-5C61-AB0F-BB87E1678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21" y="1690686"/>
            <a:ext cx="5768056" cy="322688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EF7C47E-39B1-BD45-C8E1-64C4DDDD1694}"/>
              </a:ext>
            </a:extLst>
          </p:cNvPr>
          <p:cNvSpPr txBox="1"/>
          <p:nvPr/>
        </p:nvSpPr>
        <p:spPr>
          <a:xfrm>
            <a:off x="2586445" y="5167314"/>
            <a:ext cx="3213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传统的</a:t>
            </a:r>
            <a:r>
              <a:rPr lang="en-US" altLang="zh-CN" sz="24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GNN</a:t>
            </a:r>
            <a:r>
              <a:rPr lang="zh-CN" altLang="en-US" sz="2400" b="1" dirty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加速器</a:t>
            </a:r>
          </a:p>
        </p:txBody>
      </p:sp>
    </p:spTree>
    <p:extLst>
      <p:ext uri="{BB962C8B-B14F-4D97-AF65-F5344CB8AC3E}">
        <p14:creationId xmlns:p14="http://schemas.microsoft.com/office/powerpoint/2010/main" val="1979269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CD86D-F616-478D-6180-A8BD3AD4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063DC69-DDF2-A806-BCD8-94A6D765A082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9EFF80-8C19-3398-BD43-7369164F7CEA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336669-5EB1-9133-EF4C-B86624604419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23A9FB-7FDB-CB93-9181-265DF3D9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7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5392E74-209D-210A-A921-32380208D835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作品及功能介绍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E3531B2-FA1D-C9E5-1CE9-8B9461D9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0"/>
          <a:stretch>
            <a:fillRect/>
          </a:stretch>
        </p:blipFill>
        <p:spPr>
          <a:xfrm>
            <a:off x="7784789" y="1937693"/>
            <a:ext cx="3136900" cy="321029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88E6456-AF0F-8F0B-2648-B3FACB85EB2D}"/>
              </a:ext>
            </a:extLst>
          </p:cNvPr>
          <p:cNvSpPr txBox="1"/>
          <p:nvPr/>
        </p:nvSpPr>
        <p:spPr>
          <a:xfrm>
            <a:off x="8775247" y="5147984"/>
            <a:ext cx="118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矩阵行积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ADA494-71A4-C23A-1460-A0908D5ADE16}"/>
              </a:ext>
            </a:extLst>
          </p:cNvPr>
          <p:cNvSpPr txBox="1"/>
          <p:nvPr/>
        </p:nvSpPr>
        <p:spPr>
          <a:xfrm>
            <a:off x="3416754" y="5147984"/>
            <a:ext cx="118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硬件架构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89101E7-ED28-E01C-FD2A-BB7D2BD22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382" y="1744442"/>
            <a:ext cx="5274310" cy="340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71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E7003-DB40-F86F-30A0-E295B5A6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79656B2-5C62-EDA7-DEB1-199FBF63A16A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3B754D-4AEC-62F1-9D7B-15475632B4FE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3F7341-9721-8C53-154A-5EF31DB57677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825CE6-15C7-339A-654E-2FC4B3D3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8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77E20B8-915B-1690-F3FE-7758F278FAF2}"/>
              </a:ext>
            </a:extLst>
          </p:cNvPr>
          <p:cNvSpPr txBox="1"/>
          <p:nvPr/>
        </p:nvSpPr>
        <p:spPr>
          <a:xfrm>
            <a:off x="3117741" y="4788359"/>
            <a:ext cx="118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硬件架构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21A1152-17EF-9EB0-62E8-84D1641FE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382" y="1744442"/>
            <a:ext cx="4726687" cy="30536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0E99E5A-1BA1-88CB-0F09-DA6B08986B3D}"/>
              </a:ext>
            </a:extLst>
          </p:cNvPr>
          <p:cNvSpPr txBox="1"/>
          <p:nvPr/>
        </p:nvSpPr>
        <p:spPr>
          <a:xfrm>
            <a:off x="5649152" y="1789167"/>
            <a:ext cx="60970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zh-CN" altLang="zh-CN" sz="1800">
                <a:effectLst/>
                <a:latin typeface="宋体" panose="02010600030101010101" pitchFamily="2" charset="-122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实现基于</a:t>
            </a:r>
            <a:r>
              <a:rPr lang="en-US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RISC-V</a:t>
            </a: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向量拓展的专用处理器</a:t>
            </a:r>
            <a:r>
              <a:rPr lang="en-US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,</a:t>
            </a: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通过自定义指令集</a:t>
            </a:r>
            <a:r>
              <a:rPr lang="en-US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,</a:t>
            </a: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重点优化稀疏矩阵</a:t>
            </a:r>
            <a:r>
              <a:rPr lang="en-US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-</a:t>
            </a: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稠密矩阵乘法（</a:t>
            </a:r>
            <a:r>
              <a:rPr lang="en-US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SpMM</a:t>
            </a: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）计算性能</a:t>
            </a:r>
            <a:endParaRPr lang="zh-CN" altLang="zh-CN" sz="1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设计并构建完整的三级取指译码执行流水线，实现对稀疏矩阵的高效加载计算和存储</a:t>
            </a:r>
            <a:endParaRPr lang="zh-CN" altLang="zh-CN" sz="1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设计针对幂律分布图的硬件加速架构，通过固定行缓存机制提升数据重用率和计算效率</a:t>
            </a:r>
            <a:endParaRPr lang="zh-CN" altLang="zh-CN" sz="1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支持指令并行，通过双发射机制隐藏内存访问延迟，提高硬件资源利用效率</a:t>
            </a:r>
            <a:endParaRPr lang="zh-CN" altLang="zh-CN" sz="1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egoe UI" panose="020B0502040204020203" pitchFamily="34" charset="0"/>
              </a:rPr>
              <a:t>设计总线和接口，专门优化稀疏数据的不规则内存访问模式</a:t>
            </a:r>
            <a:endParaRPr lang="zh-CN" altLang="zh-CN" sz="1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F34FF8-0ACE-28E0-1CE0-12A27D464A5A}"/>
              </a:ext>
            </a:extLst>
          </p:cNvPr>
          <p:cNvSpPr txBox="1"/>
          <p:nvPr/>
        </p:nvSpPr>
        <p:spPr>
          <a:xfrm>
            <a:off x="6401538" y="1127202"/>
            <a:ext cx="207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作品功能创新点</a:t>
            </a:r>
            <a:endParaRPr lang="zh-CN" altLang="en-US" b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863184-86F7-AE68-20B0-067A335FFF98}"/>
              </a:ext>
            </a:extLst>
          </p:cNvPr>
          <p:cNvSpPr/>
          <p:nvPr/>
        </p:nvSpPr>
        <p:spPr>
          <a:xfrm>
            <a:off x="877899" y="536622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作品及功能介绍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6730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1A878-1011-5B65-A15A-438105E1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4EEDDF0-D4E4-BA80-73F7-44501537252C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6E470C-1EB7-5E96-BEC9-14C3BEECBF61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78B7FE-C339-854E-4D78-F01708A4C1D6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F1207A-FF29-0632-CD5B-B6F0189C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9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CFE3D6-55B1-AE23-A40C-293301B3F0CF}"/>
              </a:ext>
            </a:extLst>
          </p:cNvPr>
          <p:cNvSpPr/>
          <p:nvPr/>
        </p:nvSpPr>
        <p:spPr>
          <a:xfrm>
            <a:off x="877899" y="536622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作品及功能介绍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74979A-DA35-86C7-42B0-9023E8D4C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16" y="1756675"/>
            <a:ext cx="11177785" cy="37066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4D49954-145F-0666-0B51-D33679EEECC7}"/>
              </a:ext>
            </a:extLst>
          </p:cNvPr>
          <p:cNvSpPr txBox="1"/>
          <p:nvPr/>
        </p:nvSpPr>
        <p:spPr>
          <a:xfrm>
            <a:off x="4102274" y="5463312"/>
            <a:ext cx="507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SpMM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数据流 （对于</a:t>
            </a:r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4x4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矩阵）</a:t>
            </a:r>
            <a:endParaRPr lang="zh-CN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9895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670ED-9A63-4F75-24C8-DB9EFEFF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61B9DD1-FBA6-23DB-5CAB-C7A5154976F3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C9AACD-F5FA-5EFF-EE11-F890670CB22A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D8526E-15C0-492A-75EC-283FFDF2E70C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8B05FE-FBB9-B925-9585-B77C82BE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10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FC1F6-1A7C-8F5D-16E8-23FD3762806F}"/>
              </a:ext>
            </a:extLst>
          </p:cNvPr>
          <p:cNvSpPr/>
          <p:nvPr/>
        </p:nvSpPr>
        <p:spPr>
          <a:xfrm>
            <a:off x="877899" y="536622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作品及功能介绍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42AA20-5DD3-73D9-6003-D999591A38D8}"/>
              </a:ext>
            </a:extLst>
          </p:cNvPr>
          <p:cNvSpPr txBox="1"/>
          <p:nvPr/>
        </p:nvSpPr>
        <p:spPr>
          <a:xfrm>
            <a:off x="663879" y="2453560"/>
            <a:ext cx="3709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VID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模块</a:t>
            </a:r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1"/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1"/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功能：核心控制模块。状态机控制以保证指令执行有序且高效。</a:t>
            </a:r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0839F1D-1C17-6D19-05D3-C267B11E2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607" y="2165922"/>
            <a:ext cx="7383560" cy="280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50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3A45C-96AE-4D72-7B35-90E59A4C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123B36A-CC86-E2AB-9730-983E91C52611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4DED75-8ED1-8EBF-86E1-D45957BB8A02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0F9DB9-3A20-049C-5CB9-EC3758098EFC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62E550-9E7F-C5F4-642A-1D8A4887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11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996CA5-7D2D-2605-8C44-7CE48D1EB4CB}"/>
              </a:ext>
            </a:extLst>
          </p:cNvPr>
          <p:cNvSpPr/>
          <p:nvPr/>
        </p:nvSpPr>
        <p:spPr>
          <a:xfrm>
            <a:off x="877899" y="536622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作品及功能介绍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C4FB1E-1821-8504-320B-958D7272AFA5}"/>
              </a:ext>
            </a:extLst>
          </p:cNvPr>
          <p:cNvSpPr txBox="1"/>
          <p:nvPr/>
        </p:nvSpPr>
        <p:spPr>
          <a:xfrm>
            <a:off x="663879" y="2453560"/>
            <a:ext cx="3709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VEX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模块</a:t>
            </a:r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1"/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1"/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功能：计算核心单元，执行向量化</a:t>
            </a:r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MAC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以及加法运算</a:t>
            </a:r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DE6B314-441B-2248-F5C1-32ABAD3E8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740" y="935090"/>
            <a:ext cx="6341419" cy="498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53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BF7BD-196E-6AF4-836C-F8FF23F5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AD592FC-5502-6054-C1D7-9994CFD8A0F0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436229-0FE7-2D5E-36D7-FE928C2A8752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5E10C4-6D6F-814C-5FD4-88AA53E0C484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18D98C-1C7C-380B-01CE-5E5D66AC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12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AC16D1-66E5-94BB-4936-371CC8DEA73D}"/>
              </a:ext>
            </a:extLst>
          </p:cNvPr>
          <p:cNvSpPr/>
          <p:nvPr/>
        </p:nvSpPr>
        <p:spPr>
          <a:xfrm>
            <a:off x="877899" y="536622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作品及功能介绍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400758-17A4-4FFC-F4A0-C987312E3379}"/>
              </a:ext>
            </a:extLst>
          </p:cNvPr>
          <p:cNvSpPr txBox="1"/>
          <p:nvPr/>
        </p:nvSpPr>
        <p:spPr>
          <a:xfrm>
            <a:off x="663879" y="2453560"/>
            <a:ext cx="3709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VRF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模块</a:t>
            </a:r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1"/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1"/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功能：存储计算所用行。针对幂律定律存储常用行（</a:t>
            </a:r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Fix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区域）</a:t>
            </a:r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269461A-9375-C3C7-80AD-4AE081A3B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110" y="2637230"/>
            <a:ext cx="6703341" cy="23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42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85E9-2E02-7981-EA16-A9084A7C7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5A1F044-62FD-5CF3-A56B-7DCE87BA8429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0B1CD-3503-321B-4557-7B0CB7369AC7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0552B2-8B01-B25F-24F0-084C16099D04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897EA7-B35C-C20B-3AEF-E7D2297A0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13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C4595F-7B1D-BBB8-E93B-D821EB86E063}"/>
              </a:ext>
            </a:extLst>
          </p:cNvPr>
          <p:cNvSpPr/>
          <p:nvPr/>
        </p:nvSpPr>
        <p:spPr>
          <a:xfrm>
            <a:off x="877899" y="536622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作品及功能介绍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905C1F-2305-9E34-DE3E-FD5A8BBF7F9B}"/>
              </a:ext>
            </a:extLst>
          </p:cNvPr>
          <p:cNvSpPr txBox="1"/>
          <p:nvPr/>
        </p:nvSpPr>
        <p:spPr>
          <a:xfrm>
            <a:off x="663879" y="2453560"/>
            <a:ext cx="4772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Dense buffer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模块</a:t>
            </a:r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1"/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1"/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功能：临时存储计算结果，用于大规模矩阵的分块运算</a:t>
            </a:r>
            <a:endParaRPr lang="en-US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9E207E-3B84-C373-5ADD-DF999047F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959" y="733184"/>
            <a:ext cx="2610196" cy="501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73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5FAAC-45D5-FBF5-297B-2AC08E403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FE9686A-7B75-DC5C-BA09-865EAF3E5E6F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42B6A0-1359-6FB1-A1EE-8EBA40E4CE74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FF5E2D-1193-1FE3-B92D-70FFCBD91CA8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60003E-1752-1D1B-4A4D-7BECFB37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14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F3DB7F-2170-438F-2DE1-B22F811EFD04}"/>
              </a:ext>
            </a:extLst>
          </p:cNvPr>
          <p:cNvSpPr txBox="1"/>
          <p:nvPr/>
        </p:nvSpPr>
        <p:spPr>
          <a:xfrm>
            <a:off x="933189" y="1561745"/>
            <a:ext cx="479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RISC_V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定制指令集</a:t>
            </a:r>
            <a:endParaRPr lang="zh-CN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6B751B-9A12-7568-6F2E-F260D6C20CAA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4.</a:t>
            </a:r>
            <a:r>
              <a:rPr lang="zh-CN" altLang="en-US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性能优化</a:t>
            </a:r>
            <a:endParaRPr lang="en-US" altLang="zh-CN" sz="3200" b="1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640933F-6790-9BB3-95B3-19A177622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852" y="2221639"/>
            <a:ext cx="6712713" cy="321330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E12F383-B1E5-E08F-172A-6E0B6D3A27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40"/>
          <a:stretch>
            <a:fillRect/>
          </a:stretch>
        </p:blipFill>
        <p:spPr>
          <a:xfrm>
            <a:off x="8609296" y="2257107"/>
            <a:ext cx="3136900" cy="321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95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E9D17-9DB7-044C-5FE9-AC48D8C5B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4A00C56-686C-A29A-0011-F062B822308D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E8B681-41B6-E293-4BE3-7E8B6110D4AD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1225A5-8D34-7BF4-121B-4673592C6DA6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0C1CC0-E193-1B15-2557-DB73FE64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15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2A39D3-90B4-44D2-D7A4-C158FB86802A}"/>
              </a:ext>
            </a:extLst>
          </p:cNvPr>
          <p:cNvSpPr txBox="1"/>
          <p:nvPr/>
        </p:nvSpPr>
        <p:spPr>
          <a:xfrm>
            <a:off x="933189" y="1561745"/>
            <a:ext cx="479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针对幂律定律优化缓存</a:t>
            </a:r>
            <a:endParaRPr lang="zh-CN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09A697-2F6D-7ACF-7921-358F4CBCD2B7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4.</a:t>
            </a:r>
            <a:r>
              <a:rPr lang="zh-CN" altLang="en-US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性能优化</a:t>
            </a:r>
            <a:endParaRPr lang="en-US" altLang="zh-CN" sz="3200" b="1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B6D76B4-2803-0572-2AFA-CAC434FF2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488" y="2427141"/>
            <a:ext cx="4405218" cy="268700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1F43C20-5838-C25C-9738-091D8FEB2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06" y="2809915"/>
            <a:ext cx="5210810" cy="18268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7BDB21D-053A-5068-6EDE-FF11E777C716}"/>
              </a:ext>
            </a:extLst>
          </p:cNvPr>
          <p:cNvSpPr txBox="1"/>
          <p:nvPr/>
        </p:nvSpPr>
        <p:spPr>
          <a:xfrm>
            <a:off x="6725405" y="4724568"/>
            <a:ext cx="4065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zh-CN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VRF</a:t>
            </a:r>
            <a:endParaRPr lang="zh-CN" altLang="zh-CN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18840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54AD6-E912-3A05-0783-3F963B857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4EA4B97-576E-5240-B291-CA2BDBAAA334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5CEF20-9BBB-4666-8EAE-D8135833F402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0C73E2-4964-310F-50C2-A26C08603296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FFE224-0AB0-6EE2-A962-9A6421A3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16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F8229E-FD1A-B87D-55EF-2E9ED58E2D85}"/>
              </a:ext>
            </a:extLst>
          </p:cNvPr>
          <p:cNvSpPr txBox="1"/>
          <p:nvPr/>
        </p:nvSpPr>
        <p:spPr>
          <a:xfrm>
            <a:off x="933189" y="1561745"/>
            <a:ext cx="479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特定数据加载优化</a:t>
            </a:r>
            <a:endParaRPr lang="zh-CN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A76475-4EF6-5658-6950-2093CF758755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4.</a:t>
            </a:r>
            <a:r>
              <a:rPr lang="zh-CN" altLang="en-US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性能优化</a:t>
            </a:r>
            <a:endParaRPr lang="en-US" altLang="zh-CN" sz="3200" b="1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7DDC4C7-66F0-72F9-63D2-96146A1AA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815" y="2557630"/>
            <a:ext cx="4146115" cy="221657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E711089-BB49-6B9E-2425-13AE70306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303" y="2515870"/>
            <a:ext cx="3074722" cy="249928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AA1827C-EE82-74C1-43F1-5B48E7021FBB}"/>
              </a:ext>
            </a:extLst>
          </p:cNvPr>
          <p:cNvSpPr txBox="1"/>
          <p:nvPr/>
        </p:nvSpPr>
        <p:spPr>
          <a:xfrm>
            <a:off x="2446393" y="5111589"/>
            <a:ext cx="221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稀疏数据</a:t>
            </a:r>
            <a:endParaRPr lang="zh-CN" altLang="zh-CN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701F30-3550-E360-5D26-C4D2492F884A}"/>
              </a:ext>
            </a:extLst>
          </p:cNvPr>
          <p:cNvSpPr txBox="1"/>
          <p:nvPr/>
        </p:nvSpPr>
        <p:spPr>
          <a:xfrm>
            <a:off x="7836496" y="5034488"/>
            <a:ext cx="221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稠密数据</a:t>
            </a:r>
            <a:endParaRPr lang="zh-CN" altLang="zh-CN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260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E32EE-5762-FE24-A91F-35B1B03B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94D882-7537-BE45-9799-0549C6CCF439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D65153-921E-777E-4985-6BDACDB7956C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AF059E-FAFF-1716-331B-75F8C8E9DD86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2C024A-8E85-6A62-811B-77D38730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32096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17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442221-9F3D-8E64-062E-1092F77B648B}"/>
              </a:ext>
            </a:extLst>
          </p:cNvPr>
          <p:cNvSpPr txBox="1"/>
          <p:nvPr/>
        </p:nvSpPr>
        <p:spPr>
          <a:xfrm>
            <a:off x="933189" y="1561745"/>
            <a:ext cx="479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4.</a:t>
            </a:r>
            <a:r>
              <a:rPr lang="zh-CN" altLang="en-US" sz="24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指令双发射优化</a:t>
            </a:r>
            <a:endParaRPr lang="zh-CN" altLang="zh-CN" sz="2400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17DBEE-9415-B339-4B76-211425A10FE2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4.</a:t>
            </a:r>
            <a:r>
              <a:rPr lang="zh-CN" altLang="en-US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性能优化</a:t>
            </a:r>
            <a:endParaRPr lang="en-US" altLang="zh-CN" sz="3200" b="1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732C2DD-96C4-F466-D770-B6ABBC46A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391" y="2124748"/>
            <a:ext cx="7867218" cy="354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224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A201-BC55-588D-4974-628CA7E3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8E06753-5E66-2F51-0D94-94758516F8DD}"/>
              </a:ext>
            </a:extLst>
          </p:cNvPr>
          <p:cNvSpPr/>
          <p:nvPr/>
        </p:nvSpPr>
        <p:spPr>
          <a:xfrm>
            <a:off x="0" y="300446"/>
            <a:ext cx="5329825" cy="326571"/>
          </a:xfrm>
          <a:prstGeom prst="rect">
            <a:avLst/>
          </a:prstGeom>
          <a:solidFill>
            <a:srgbClr val="842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EC8449-50C3-6AA3-DA48-B7E37B217DFC}"/>
              </a:ext>
            </a:extLst>
          </p:cNvPr>
          <p:cNvSpPr/>
          <p:nvPr/>
        </p:nvSpPr>
        <p:spPr>
          <a:xfrm>
            <a:off x="293111" y="19147"/>
            <a:ext cx="418010" cy="68580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A58DC3-DF5D-133B-5A30-BBE8D1F0977C}"/>
              </a:ext>
            </a:extLst>
          </p:cNvPr>
          <p:cNvSpPr/>
          <p:nvPr/>
        </p:nvSpPr>
        <p:spPr>
          <a:xfrm>
            <a:off x="877899" y="6402765"/>
            <a:ext cx="10868297" cy="857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517C79-E342-650A-E34A-40DEE710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100" y="6473275"/>
            <a:ext cx="418010" cy="365125"/>
          </a:xfrm>
        </p:spPr>
        <p:txBody>
          <a:bodyPr/>
          <a:lstStyle/>
          <a:p>
            <a:fld id="{A22A03B5-F090-4842-B2F9-A978013A5A6B}" type="slidenum">
              <a:rPr lang="zh-CN" altLang="en-US" b="1" smtClean="0">
                <a:solidFill>
                  <a:srgbClr val="C00000"/>
                </a:solidFill>
              </a:rPr>
              <a:t>18</a:t>
            </a:fld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6ED19E-9A91-8D69-348E-5696F248E392}"/>
              </a:ext>
            </a:extLst>
          </p:cNvPr>
          <p:cNvSpPr/>
          <p:nvPr/>
        </p:nvSpPr>
        <p:spPr>
          <a:xfrm>
            <a:off x="877899" y="530359"/>
            <a:ext cx="6562979" cy="7559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r>
              <a:rPr lang="en-US" altLang="zh-CN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r>
              <a:rPr lang="zh-CN" altLang="en-US" sz="3200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仿真</a:t>
            </a:r>
            <a:r>
              <a:rPr lang="zh-CN" altLang="en-US" sz="3200" b="1" cap="none" spc="0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效果</a:t>
            </a:r>
            <a:endParaRPr lang="en-US" altLang="zh-CN" sz="3200" b="1" cap="none" spc="0" dirty="0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B92D46-0638-9E4B-1F0A-9C994E412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497" y="1822529"/>
            <a:ext cx="3308520" cy="33847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4DBB584-945E-27B1-DA60-91E60B0C26FA}"/>
              </a:ext>
            </a:extLst>
          </p:cNvPr>
          <p:cNvSpPr txBox="1"/>
          <p:nvPr/>
        </p:nvSpPr>
        <p:spPr>
          <a:xfrm>
            <a:off x="1506942" y="5374178"/>
            <a:ext cx="2820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Python</a:t>
            </a:r>
            <a:r>
              <a:rPr lang="zh-CN" altLang="en-US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脚本运行结果</a:t>
            </a:r>
            <a:endParaRPr lang="zh-CN" altLang="zh-CN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81DB570-581C-8A73-B44A-42E670D8FA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2"/>
          <a:stretch>
            <a:fillRect/>
          </a:stretch>
        </p:blipFill>
        <p:spPr bwMode="auto">
          <a:xfrm>
            <a:off x="5050311" y="2265610"/>
            <a:ext cx="6681799" cy="232678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D933BCB-AF37-40C0-69CC-E25DCE83B144}"/>
              </a:ext>
            </a:extLst>
          </p:cNvPr>
          <p:cNvSpPr txBox="1"/>
          <p:nvPr/>
        </p:nvSpPr>
        <p:spPr>
          <a:xfrm>
            <a:off x="6767874" y="5374178"/>
            <a:ext cx="2820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b="1">
                <a:ln w="0"/>
                <a:solidFill>
                  <a:srgbClr val="B818B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处理器运行结果</a:t>
            </a:r>
            <a:endParaRPr lang="zh-CN" altLang="zh-CN" b="1">
              <a:ln w="0"/>
              <a:solidFill>
                <a:srgbClr val="B818B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8483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5572</TotalTime>
  <Words>452</Words>
  <Application>Microsoft Office PowerPoint</Application>
  <PresentationFormat>宽屏</PresentationFormat>
  <Paragraphs>104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Lee</dc:creator>
  <cp:lastModifiedBy>Brandon Lee</cp:lastModifiedBy>
  <cp:revision>11</cp:revision>
  <dcterms:created xsi:type="dcterms:W3CDTF">2025-09-08T00:53:00Z</dcterms:created>
  <dcterms:modified xsi:type="dcterms:W3CDTF">2025-11-08T04:42:40Z</dcterms:modified>
</cp:coreProperties>
</file>